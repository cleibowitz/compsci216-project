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3" cy="6858000"/>
          </a:xfrm>
          <a:prstGeom prst="rect">
            <a:avLst/>
          </a:prstGeom>
          <a:solidFill>
            <a:srgbClr val="26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6040"/>
            <a:ext cx="7772400" cy="36576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7315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</a:pPr>
            <a:r>
              <a:rPr b="1" i="0" sz="3600">
                <a:solidFill>
                  <a:srgbClr val="FFFFFF"/>
                </a:solidFill>
                <a:latin typeface="Avenir Next"/>
              </a:rPr>
              <a:t>Mean Reversion in
OIS-Treasury Spreads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CCD3D8"/>
                </a:solidFill>
                <a:latin typeface="Avenir Next"/>
              </a:rPr>
              <a:t>Evidence, Regime Dependence, and an HMM Trading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b="0" i="0" sz="1300">
                <a:solidFill>
                  <a:srgbClr val="FFFFFF"/>
                </a:solidFill>
                <a:latin typeface="Avenir Next"/>
              </a:rPr>
              <a:t>Chase Leibowitz (crl65)    Dhruv Trivedi (dpt10)</a:t>
            </a:r>
          </a:p>
          <a:p>
            <a:pPr algn="l">
              <a:spcBef>
                <a:spcPts val="300"/>
              </a:spcBef>
            </a:pPr>
            <a:r>
              <a:rPr b="0" i="0" sz="1300">
                <a:solidFill>
                  <a:srgbClr val="FFFFFF"/>
                </a:solidFill>
                <a:latin typeface="Avenir Next"/>
              </a:rPr>
              <a:t>Jose Maldonado (jam348)   Felipe Sanchez-Noguera (fs172)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159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CCD3D8"/>
                </a:solidFill>
                <a:latin typeface="Avenir Next"/>
              </a:rPr>
              <a:t>CS216 Everything Data  ·  Duke University  ·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2803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CCD3D8"/>
                </a:solidFill>
                <a:latin typeface="Avenir Next"/>
              </a:rPr>
              <a:t>Video: </a:t>
            </a:r>
            <a:r>
              <a:rPr b="0" i="0" sz="1100">
                <a:solidFill>
                  <a:srgbClr val="FFFFFF"/>
                </a:solidFill>
                <a:latin typeface="Avenir Next"/>
              </a:rPr>
              <a:t>[INSERT VIDEO URL]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566160" cy="9144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566160" cy="109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444752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CCD3D8"/>
                </a:solidFill>
                <a:latin typeface="Avenir Next"/>
              </a:rPr>
              <a:t>1,890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daily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450592"/>
            <a:ext cx="3566160" cy="9144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450592"/>
            <a:ext cx="3566160" cy="109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523744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CCD3D8"/>
                </a:solidFill>
                <a:latin typeface="Avenir Next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maturities: 2Y / 5Y / 10Y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529584"/>
            <a:ext cx="3566160" cy="9144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529584"/>
            <a:ext cx="3566160" cy="109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602736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CCD3D8"/>
                </a:solidFill>
                <a:latin typeface="Avenir Next"/>
              </a:rPr>
              <a:t>162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robustness cells — 100%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608576"/>
            <a:ext cx="3566160" cy="91440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608576"/>
            <a:ext cx="3566160" cy="109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4681728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CCD3D8"/>
                </a:solidFill>
                <a:latin typeface="Avenir Next"/>
              </a:rPr>
              <a:t>7 years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of daily data: 2019–2026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The OIS-Treasury Spread Is a Measure of Relative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What is the spread · Why it should mean-revert ·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645920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13716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WHAT IS THE SPREAD?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" y="16276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" y="1691640"/>
            <a:ext cx="5760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OIS (Overnight Index Swap): a fixed-for-floating swap where the floating leg tracks compounded SOFR — no principal exchanged, near-zero credit risk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Treasury CMT yield: the government's borrowing rate at standardized maturities (2Y, 5Y, 10Y)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Spread  =  OIS par rate  −  Treasury CMT yield  →  almost always negative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Why negative? Treasuries carry a superior liquidity premium — investors pay up for them, which bids their yields below 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" y="3584448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WHY SHOULD IT MEAN-REVERT?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" y="3840480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" y="3913632"/>
            <a:ext cx="5760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Both instruments price the same forward short-rate path — a persistent gap is a mispricing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Arbitrageurs enter when spreads drift beyond a threshold, forcing convergence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Classic relative-value (RV) trade: when spread is too wide or narrow, bet on the snap-back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" y="5349239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WHY DOES IT MATTER?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" y="5605271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" y="5669280"/>
            <a:ext cx="57607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Pension funds: OIS-Treasury basis affects hedging ratios on liability-matching portfolios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Corporates: swap-overlay costs are directly tied to this spread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Fed: the basis is a real-time indicator of Treasury market functioning and stress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1371600"/>
            <a:ext cx="5797296" cy="658368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481328"/>
            <a:ext cx="5431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Avenir Next"/>
              </a:rPr>
              <a:t>s</a:t>
            </a:r>
            <a:r>
              <a:rPr b="0" i="0" sz="1200">
                <a:solidFill>
                  <a:srgbClr val="CCD3D8"/>
                </a:solidFill>
                <a:latin typeface="Avenir Next"/>
              </a:rPr>
              <a:t>(t,τ)</a:t>
            </a:r>
            <a:r>
              <a:rPr b="0" i="0" sz="1400">
                <a:solidFill>
                  <a:srgbClr val="FFFFFF"/>
                </a:solidFill>
                <a:latin typeface="Avenir Next"/>
              </a:rPr>
              <a:t>  =  OIS</a:t>
            </a:r>
            <a:r>
              <a:rPr b="0" i="0" sz="1200">
                <a:solidFill>
                  <a:srgbClr val="CCD3D8"/>
                </a:solidFill>
                <a:latin typeface="Avenir Next"/>
              </a:rPr>
              <a:t>(t,τ)</a:t>
            </a:r>
            <a:r>
              <a:rPr b="0" i="0" sz="1400">
                <a:solidFill>
                  <a:srgbClr val="FFFFFF"/>
                </a:solidFill>
                <a:latin typeface="Avenir Next"/>
              </a:rPr>
              <a:t>  −  DGS</a:t>
            </a:r>
            <a:r>
              <a:rPr b="0" i="0" sz="1200">
                <a:solidFill>
                  <a:srgbClr val="CCD3D8"/>
                </a:solidFill>
                <a:latin typeface="Avenir Next"/>
              </a:rPr>
              <a:t>(t,τ)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148840"/>
            <a:ext cx="2843784" cy="100584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2148840"/>
            <a:ext cx="2843784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2221992"/>
            <a:ext cx="26243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1D293C"/>
                </a:solidFill>
                <a:latin typeface="Avenir Next"/>
              </a:rPr>
              <a:t>−24.7 bps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5Y mean spread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2148840"/>
            <a:ext cx="2843784" cy="100584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2148840"/>
            <a:ext cx="2843784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8" y="2221992"/>
            <a:ext cx="26243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1D293C"/>
                </a:solidFill>
                <a:latin typeface="Avenir Next"/>
              </a:rPr>
              <a:t>99.9%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days spread is negative
(5Y and 10Y)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3264408"/>
            <a:ext cx="2843784" cy="100584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8" y="3264408"/>
            <a:ext cx="2843784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3337560"/>
            <a:ext cx="26243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1D293C"/>
                </a:solidFill>
                <a:latin typeface="Avenir Next"/>
              </a:rPr>
              <a:t>≥ 2σ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entry threshold
for RV trade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3264408"/>
            <a:ext cx="2843784" cy="100584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3264408"/>
            <a:ext cx="2843784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3337560"/>
            <a:ext cx="26243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1D293C"/>
                </a:solidFill>
                <a:latin typeface="Avenir Next"/>
              </a:rPr>
              <a:t>1 bp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estimated round-trip
transaction cost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8" y="4526280"/>
            <a:ext cx="45720" cy="640080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81928" y="4526280"/>
            <a:ext cx="5751576" cy="64008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599432"/>
            <a:ext cx="55412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050">
                <a:solidFill>
                  <a:srgbClr val="1D293C"/>
                </a:solidFill>
                <a:latin typeface="Avenir Next"/>
              </a:rPr>
              <a:t>Headline: OIS trades below Treasuries essentially 100% of the time — but the gap fluctuates. That fluctuation is what we trade.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Four Questions Designed to Escalate: Prove → Stress-Test → Explain → Exploit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64808"/>
            <a:ext cx="1645920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5562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" y="1371600"/>
            <a:ext cx="2866644" cy="3474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1426464"/>
            <a:ext cx="26837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Avenir Next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" y="1792224"/>
            <a:ext cx="28666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D293C"/>
                </a:solidFill>
                <a:latin typeface="Avenir Next"/>
              </a:rPr>
              <a:t>Mean Reversion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" y="2139696"/>
            <a:ext cx="2866644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" y="2212848"/>
            <a:ext cx="28666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Do OIS-Treasury spreads mean-revert after extreme ±2σ signals, and is the move large enough to trade?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" y="4206240"/>
            <a:ext cx="28666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50">
                <a:solidFill>
                  <a:srgbClr val="8896A2"/>
                </a:solidFill>
                <a:latin typeface="Avenir Next"/>
              </a:rPr>
              <a:t>WHY THIS QUESTION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" y="4425696"/>
            <a:ext cx="2866644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" y="4498848"/>
            <a:ext cx="28666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1" sz="1050">
                <a:solidFill>
                  <a:srgbClr val="8896A2"/>
                </a:solidFill>
                <a:latin typeface="Avenir Next"/>
              </a:rPr>
              <a:t>Before building a strategy, we need to know the signal is real and not a statistical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9252" y="1371600"/>
            <a:ext cx="2866644" cy="3474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0692" y="1426464"/>
            <a:ext cx="26837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Avenir Next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9252" y="1792224"/>
            <a:ext cx="28666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D293C"/>
                </a:solidFill>
                <a:latin typeface="Avenir Next"/>
              </a:rPr>
              <a:t>Robustness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9252" y="2139696"/>
            <a:ext cx="2866644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9252" y="2212848"/>
            <a:ext cx="28666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Does the result hold when we change rolling window, threshold, and forward horizon — all 162 combinations?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9252" y="4206240"/>
            <a:ext cx="28666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50">
                <a:solidFill>
                  <a:srgbClr val="8896A2"/>
                </a:solidFill>
                <a:latin typeface="Avenir Next"/>
              </a:rPr>
              <a:t>WHY THIS QUESTION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9252" y="4425696"/>
            <a:ext cx="2866644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9252" y="4498848"/>
            <a:ext cx="28666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1" sz="1050">
                <a:solidFill>
                  <a:srgbClr val="8896A2"/>
                </a:solidFill>
                <a:latin typeface="Avenir Next"/>
              </a:rPr>
              <a:t>A result that depends on parameter choice is fragile. We need to know it holds everywhere.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1371600"/>
            <a:ext cx="2866644" cy="3474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1426464"/>
            <a:ext cx="26837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Avenir Next"/>
              </a:rPr>
              <a:t>RQ3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1792224"/>
            <a:ext cx="28666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D293C"/>
                </a:solidFill>
                <a:latin typeface="Avenir Next"/>
              </a:rPr>
              <a:t>Regime Dependence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2139696"/>
            <a:ext cx="2866644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2212848"/>
            <a:ext cx="28666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Does reversion magnitude differ across rate-direction and volatility regimes? Which factor dominates?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4206240"/>
            <a:ext cx="28666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50">
                <a:solidFill>
                  <a:srgbClr val="8896A2"/>
                </a:solidFill>
                <a:latin typeface="Avenir Next"/>
              </a:rPr>
              <a:t>WHY THIS QUESTION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4425696"/>
            <a:ext cx="2866644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4498848"/>
            <a:ext cx="28666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1" sz="1050">
                <a:solidFill>
                  <a:srgbClr val="8896A2"/>
                </a:solidFill>
                <a:latin typeface="Avenir Next"/>
              </a:rPr>
              <a:t>Understanding when the signal is strongest determines position sizing and trade timing in practice.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66860" y="1371600"/>
            <a:ext cx="2866644" cy="3474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8300" y="1426464"/>
            <a:ext cx="26837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Avenir Next"/>
              </a:rPr>
              <a:t>Applied Extension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6860" y="1792224"/>
            <a:ext cx="28666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D293C"/>
                </a:solidFill>
                <a:latin typeface="Avenir Next"/>
              </a:rPr>
              <a:t>HMM + Trading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66860" y="2139696"/>
            <a:ext cx="2866644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6860" y="2212848"/>
            <a:ext cx="28666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Can an unsupervised HMM detect regimes that improve out-of-sample trading vs. a supervised Random Forest?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6860" y="4206240"/>
            <a:ext cx="28666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50">
                <a:solidFill>
                  <a:srgbClr val="8896A2"/>
                </a:solidFill>
                <a:latin typeface="Avenir Next"/>
              </a:rPr>
              <a:t>WHY THIS QUESTION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66860" y="4425696"/>
            <a:ext cx="2866644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66860" y="4498848"/>
            <a:ext cx="28666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1" sz="1050">
                <a:solidFill>
                  <a:srgbClr val="8896A2"/>
                </a:solidFill>
                <a:latin typeface="Avenir Next"/>
              </a:rPr>
              <a:t>Tests whether ML adds value beyond a simple rules-based approach — and if so, what kind of ML.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" y="5431536"/>
            <a:ext cx="45720" cy="548640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1168" y="5431536"/>
            <a:ext cx="11832336" cy="54864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" y="5504688"/>
            <a:ext cx="116220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Taken together: we establish the effect, prove it is structural, identify when it is strongest, then test whether ML can systematically capture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Two Independent Sources, 1,890 Daily Observations, 2019–2026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Sources · Cleaning · Construction · Key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645920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13716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DATA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" y="16276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5448" y="1664208"/>
          <a:ext cx="1178661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4937760"/>
                <a:gridCol w="4334256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Source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Ticker / Series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Content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Role in This Analysis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FRED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DGS2, DGS5, DGS10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U.S. Treasury CMT yields at 2Y, 5Y, 10Y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Benchmark yields — the right-hand side of the spread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FRED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EFFR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Effective Fed Funds Rate (daily)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Rate-regime classifier: rising vs. falling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LSEG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USDOIS2/5/10Y=PYNY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SOFR OIS par rates (bid/ask mid)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Swap rates — the left-hand side of the spread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LSEG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.MOVE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ICE BofA MOVE Index — implied Treasury vol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Volatility regime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5448" y="32004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CLEANING &amp; CONSTRUCTION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" y="34564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" y="3511296"/>
            <a:ext cx="704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FRED: sentinel "." on U.S. holidays → NaN before any calculation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LSEG: multi-row CSV header parsed dynamically; OIS mid = (Bid + Ask) / 2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Inner join by date; 5-day forward-fill for holidays where OIS trades but Treasury is closed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Spread: s(t,τ) = OIS(t,τ) − DGS(t,τ)  |  Signal: 60-day rolling z-score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2Y artifact: 23 dates with spread &gt; 1 pp (LSEG quoting error, April–Oct 2022) → kept in classical tests, excluded from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3200400"/>
            <a:ext cx="4517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PANEL SUMMARY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3456432"/>
            <a:ext cx="451713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516368" y="3511296"/>
          <a:ext cx="385876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097280"/>
                <a:gridCol w="1097280"/>
                <a:gridCol w="1097280"/>
              </a:tblGrid>
              <a:tr h="29718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Spread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Mean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Std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% Neg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2Y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−9.3 bps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25.8 bps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82%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5Y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−24.7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10.0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≈100%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10Y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−33.6 bps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13.3 bps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≈100%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55448" y="544068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KEY DESIGN CHOICES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" y="569671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55448" y="5760720"/>
          <a:ext cx="1178661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7946136"/>
              </a:tblGrid>
              <a:tr h="2468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Decision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Value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Rationale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Rolling window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60 business days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≈3 months; balances reactivity and stability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Signal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|z| &gt;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Standard RV entry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Non-overlap filter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5-day gap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Prevents double-counting the same episode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Forward horizons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5, 10, 20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RQ2 robustness; main analysis uses 10-day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RQ1: Spreads Mean-Revert — the Effect Is Large Enough to Trade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Statistical + economic significance at 10-day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645920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13716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TABLE 1 — RQ1 SUMMARY (10-DAY HORIZON, ALL MATURITIES)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" y="16276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5448" y="1682496"/>
          <a:ext cx="64008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822960"/>
                <a:gridCol w="457200"/>
                <a:gridCol w="1051560"/>
                <a:gridCol w="960120"/>
                <a:gridCol w="822960"/>
                <a:gridCol w="1051560"/>
                <a:gridCol w="457200"/>
              </a:tblGrid>
              <a:tr h="2677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Maturity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Signal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n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Mean ∆ (bps)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Cohen's d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t-stat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p (BH-FDR)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Sig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2Y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z &lt; −2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33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+2.69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+0.48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+2.76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0.019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★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2Y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z &gt; 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−21.17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−2.35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5Y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z &lt; −2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48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+2.68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+0.87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+6.02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&lt;0.001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★★★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5Y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z &gt; 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−3.85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78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10Y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z &lt; −2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44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+2.94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+0.53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+3.53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0.003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★★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67791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10Y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z &gt; 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−4.10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−3.85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5448" y="3602735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8896A2"/>
                </a:solidFill>
                <a:latin typeface="Avenir Next"/>
              </a:rPr>
              <a:t>BH-FDR = Benjamini-Hochberg false discovery rate correction applied across all 18 cells (3 maturities × 2 directions × 3 horizons).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1371600"/>
            <a:ext cx="4242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KEY FINDINGS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627632"/>
            <a:ext cx="424281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90688" y="1682496"/>
            <a:ext cx="4242816" cy="969264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90688" y="1682496"/>
            <a:ext cx="4242816" cy="109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755648"/>
            <a:ext cx="40233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2E6DA4"/>
                </a:solidFill>
                <a:latin typeface="Avenir Next"/>
              </a:rPr>
              <a:t>100%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of 18 cells show
predicted 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0688" y="2761488"/>
            <a:ext cx="4242816" cy="969264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0688" y="2761488"/>
            <a:ext cx="4242816" cy="109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0416" y="2834640"/>
            <a:ext cx="40233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2E6DA4"/>
                </a:solidFill>
                <a:latin typeface="Avenir Next"/>
              </a:rPr>
              <a:t>12/18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cells survive
FDR correction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90688" y="3840480"/>
            <a:ext cx="4242816" cy="969264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90688" y="3840480"/>
            <a:ext cx="4242816" cy="109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6" y="3913632"/>
            <a:ext cx="40233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2E6DA4"/>
                </a:solidFill>
                <a:latin typeface="Avenir Next"/>
              </a:rPr>
              <a:t>0.87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Cohen's d at 5Y
("large" effect)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" y="370332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INTERPRETATION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" y="395935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55448" y="4023360"/>
          <a:ext cx="11786616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097280"/>
                <a:gridCol w="2148840"/>
                <a:gridCol w="7763256"/>
              </a:tblGrid>
              <a:tr h="28575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Maturity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Best Signal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Reversion (10d)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Interpretation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5Y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z &lt; −2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+2.68 bps  (d=0.87)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Exceeds 1 bp round-trip cost → economically tradable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10Y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z &gt; 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−4.10 bps  (d=0.63)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Large snap-back; most consistent two-sided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2Y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z &gt; +2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−21.17 bps (d=0.37)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Dominated by LSEG quoting artifacts — treat cautiously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155448" y="5458968"/>
            <a:ext cx="45720" cy="53035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5458968"/>
            <a:ext cx="11832336" cy="53035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" y="5532120"/>
            <a:ext cx="11622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The 5Y z&lt;−2 signal produces a +2.68 bps mean reversion over 10 days (95% CI: [+1.81, +3.61]). That is larger than the 1 bp round-trip cost — the signal is real and tradable.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Every Maturity, Every Direction Shows the Same V-Shape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RQ1 Event Study — 30-day window centered on signal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645920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6</a:t>
            </a:r>
          </a:p>
        </p:txBody>
      </p:sp>
      <p:pic>
        <p:nvPicPr>
          <p:cNvPr id="9" name="Picture 8" descr="rq1_event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371600"/>
            <a:ext cx="11878056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5448" y="5715000"/>
            <a:ext cx="45720" cy="594360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5715000"/>
            <a:ext cx="11832336" cy="5943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5788152"/>
            <a:ext cx="1162202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1" sz="1100">
                <a:solidFill>
                  <a:srgbClr val="1D293C"/>
                </a:solidFill>
                <a:latin typeface="Avenir Next"/>
              </a:rPr>
              <a:t>Each panel: average spread path in a ±15-day window, normalized to 0 at signal date. Rows = maturity; columns = direction (spread too low / too high). In every panel the spread drifts back toward zero — the expected mean-reversion shape, roughly half-complete by day 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RQ2: Result Holds Across All 162 Parameter Combinations — This Is Structural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Robustness: Window (30–120d) × Threshold (1.5–2.5σ) × Horizon (5–20d)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645920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13716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RQ2 STABILITY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" y="16276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5448" y="1682496"/>
          <a:ext cx="42976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1143000"/>
              </a:tblGrid>
              <a:tr h="271707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Metric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Value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71707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Total parameter combinations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162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71707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Cells with predicted 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162 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1707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Cells surviving BH-FDR (q &lt; 0.05)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118  (73%)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71707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Mean reversion range across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2.83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1707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Mean reversion range across thresholds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2.72 bps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7171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Mean reversion range across horizons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0.64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5448" y="370332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PARAMETER GRID TESTED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" y="395935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5448" y="4023360"/>
          <a:ext cx="429768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606040"/>
              </a:tblGrid>
              <a:tr h="24003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Parameter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Values Tested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Rolling window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30, 60, 90, 120 business days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Z-score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|z| &gt; 1.5,  2.0,  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Forward horizon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5, 10, 20 business days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155448" y="5431536"/>
            <a:ext cx="45720" cy="548640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431536"/>
            <a:ext cx="4343400" cy="54864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5504688"/>
            <a:ext cx="41330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100">
                <a:solidFill>
                  <a:srgbClr val="1D293C"/>
                </a:solidFill>
                <a:latin typeface="Avenir Next"/>
              </a:rPr>
              <a:t>Conclusion: the direction never flips once. The magnitude barely moves. Mean reversion in OIS-Treasury spreads is a structural property of the market, not a consequence of parameter selection.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1371600"/>
            <a:ext cx="7168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P-VALUE HEATMAP — 5Y SPREAD, 10-DAY HORIZON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1627632"/>
            <a:ext cx="716889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q2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682496"/>
            <a:ext cx="7168896" cy="3337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64608" y="5074920"/>
            <a:ext cx="7168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50">
                <a:solidFill>
                  <a:srgbClr val="8896A2"/>
                </a:solidFill>
                <a:latin typeface="Avenir Next"/>
              </a:rPr>
              <a:t>Green = BH-significant. All 9 window × threshold cells point in the same direction across every horizon.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RQ3: Rate Regime Drives Reversion 3× — Volatility Contributes Nothing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Two-way ANOVA: Rate direction × MOVE level on 5Y reversion magnitude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645920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13716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TWO-WAY ANOVA — 5Y SPREAD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" y="16276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5448" y="1682496"/>
          <a:ext cx="6172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685800"/>
                <a:gridCol w="731520"/>
                <a:gridCol w="731520"/>
                <a:gridCol w="1417320"/>
              </a:tblGrid>
              <a:tr h="29718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Factor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F-stat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p-value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Partial η²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Verdict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Rate regime (rising vs. falling EFFR)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17.26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&lt;0.001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0.282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Explains 28% of variance ← dominant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Vol regime (MOVE above/below median)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Explains 0% — no 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Rate × Vol interaction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0.78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0.383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0.017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No interaction effect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5448" y="3035808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REVERSION SIZE BY RATE REGIME (5Y, Z &lt; −2, 10-DAY)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" y="3291840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5448" y="3346704"/>
          <a:ext cx="52578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11480"/>
                <a:gridCol w="1325880"/>
                <a:gridCol w="132588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Rate Environment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n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Mean Reversion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Cohen's d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Rising EFFR (rates climbing)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+5.40 bps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1.21 (very large)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Falling EFFR (rates easing)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+1.67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55448" y="421538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8896A2"/>
                </a:solidFill>
                <a:latin typeface="Avenir Next"/>
              </a:rPr>
              <a:t>Rising-rate environments produce 3× larger mean reversion (p=0.001, d=1.21 — a very large effect size).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" y="4709160"/>
            <a:ext cx="45720" cy="1005840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4709160"/>
            <a:ext cx="5303520" cy="100584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4782312"/>
            <a:ext cx="50932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100">
                <a:solidFill>
                  <a:srgbClr val="1D293C"/>
                </a:solidFill>
                <a:latin typeface="Avenir Next"/>
              </a:rPr>
              <a:t>Why? When rates are rising, the OIS-Treasury spread is under fundamentally different tension — the basis is being actively repriced by the market. That tension produces larger, faster snap-backs.
Volatility (MOVE) matters continuously (see scatter, right) but vanishes as a binary split. Conditioning on rate direction captures the regime effect cleanly.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1371600"/>
            <a:ext cx="6208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MOVE LEVEL VS. 10-DAY REVERSION (CONTINUOUS)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8" y="1627632"/>
            <a:ext cx="620877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q3_mov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1682496"/>
            <a:ext cx="6208776" cy="3474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24728" y="5212080"/>
            <a:ext cx="6208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50">
                <a:solidFill>
                  <a:srgbClr val="8896A2"/>
                </a:solidFill>
                <a:latin typeface="Avenir Next"/>
              </a:rPr>
              <a:t>OLS slope &lt; 0, r ≈ −0.34 (positive-z signals). Higher vol → larger snap-back. A binary split misses this; the continuous level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Can ML Improve on a Simple Rules-Based Entry? Two Approaches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Supervised: Random Forest classifier · Unsupervised: 2-state Gaussian HMM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2153412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970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" y="1371600"/>
            <a:ext cx="3837432" cy="365760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1426464"/>
            <a:ext cx="365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Avenir Next"/>
              </a:rPr>
              <a:t>Strategy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" y="1828800"/>
            <a:ext cx="383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D293C"/>
                </a:solidFill>
                <a:latin typeface="Avenir Next"/>
              </a:rPr>
              <a:t>Rules-Based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" y="2176272"/>
            <a:ext cx="3837432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" y="2249424"/>
            <a:ext cx="38374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Enter any time |z| &gt; 2.
No ML — pure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" y="3456431"/>
            <a:ext cx="383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8896A2"/>
                </a:solidFill>
                <a:latin typeface="Avenir Next"/>
              </a:rPr>
              <a:t>Why: Establishes what a mechanical strategy achieves with no additional information.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5760" y="1371600"/>
            <a:ext cx="3837432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200" y="1426464"/>
            <a:ext cx="365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Avenir Next"/>
              </a:rPr>
              <a:t>Strategy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5760" y="1828800"/>
            <a:ext cx="383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D293C"/>
                </a:solidFill>
                <a:latin typeface="Avenir Next"/>
              </a:rPr>
              <a:t>Random Forest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5760" y="2176272"/>
            <a:ext cx="3837432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5760" y="2249424"/>
            <a:ext cx="38374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Enter only when RF predicts spread reverts ≥3 bps in 10 days.
Supervised: needs outcome labels.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5760" y="3456431"/>
            <a:ext cx="383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8896A2"/>
                </a:solidFill>
                <a:latin typeface="Avenir Next"/>
              </a:rPr>
              <a:t>Why: Tests whether predicting individual trade outcomes improves performance.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6072" y="1371600"/>
            <a:ext cx="3837432" cy="36576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7512" y="1426464"/>
            <a:ext cx="365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Avenir Next"/>
              </a:rPr>
              <a:t>Strategy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6072" y="1828800"/>
            <a:ext cx="383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D293C"/>
                </a:solidFill>
                <a:latin typeface="Avenir Next"/>
              </a:rPr>
              <a:t>HMM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6072" y="2176272"/>
            <a:ext cx="3837432" cy="10972"/>
          </a:xfrm>
          <a:prstGeom prst="rect">
            <a:avLst/>
          </a:prstGeom>
          <a:solidFill>
            <a:srgbClr val="D0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6072" y="2249424"/>
            <a:ext cx="38374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Enter only in HMM 'stable' state (State 1).
Unsupervised: no outcome labels needed.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6072" y="3456431"/>
            <a:ext cx="383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8896A2"/>
                </a:solidFill>
                <a:latin typeface="Avenir Next"/>
              </a:rPr>
              <a:t>Why: Tests whether detecting latent market regime improves performance.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" y="45720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THE CENTRAL TENSION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" y="48280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55448" y="4882896"/>
          <a:ext cx="11878056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928616"/>
                <a:gridCol w="49377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/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As RF feature (continuous)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As HMM gate (binary)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200">
                          <a:solidFill>
                            <a:srgbClr val="1D293C"/>
                          </a:solidFill>
                          <a:latin typeface="Avenir Next"/>
                        </a:rPr>
                        <a:t>hmm_state signal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200">
                          <a:solidFill>
                            <a:srgbClr val="1D293C"/>
                          </a:solidFill>
                          <a:latin typeface="Avenir Next"/>
                        </a:rPr>
                        <a:t>AUC drops −0.12 (hurts classifier)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200">
                          <a:solidFill>
                            <a:srgbClr val="1D293C"/>
                          </a:solidFill>
                          <a:latin typeface="Avenir Next"/>
                        </a:rPr>
                        <a:t>Sharpe rises +0.12 (helps trading)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155448" y="5458968"/>
            <a:ext cx="45720" cy="53035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1168" y="5458968"/>
            <a:ext cx="11832336" cy="53035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5532120"/>
            <a:ext cx="11622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200">
                <a:solidFill>
                  <a:srgbClr val="1D293C"/>
                </a:solidFill>
                <a:latin typeface="Avenir Next"/>
              </a:rPr>
              <a:t>Same signal. Opposite result. The question is why — and the answer is about how the signal is represented, not how sophisticated the model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HMM Identifies Two Persistent, Economically Meaningful Regimes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2-state Gaussian HMM · Baum-Welch estimation · Viterbi decoding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2153412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970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13716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STATE DIAGNOSTICS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" y="16276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5448" y="1682496"/>
          <a:ext cx="525779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74519"/>
                <a:gridCol w="1920240"/>
              </a:tblGrid>
              <a:tr h="28956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/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State 0 — Stress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State 1 — Stable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Days in state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856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973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% Rising EFFR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48.1%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Mean MOVE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101.3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77.6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Mean 5Y spread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−0.269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−0.229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Avg dwell time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~171 days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~194 days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5448" y="3547872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TRANSITION MATRIX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" y="3803904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5448" y="3858768"/>
          <a:ext cx="5257799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74519"/>
                <a:gridCol w="1920240"/>
              </a:tblGrid>
              <a:tr h="268224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/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→ State 0 (Stress)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→ State 1 (Stable)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From State 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0.994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0.006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From State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55448" y="470916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8896A2"/>
                </a:solidFill>
                <a:latin typeface="Avenir Next"/>
              </a:rPr>
              <a:t>Once in a state, probability of staying is &gt;99%. States persist for months — slow structural shifts a desk can actually condition 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" y="5458968"/>
            <a:ext cx="45720" cy="53035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5458968"/>
            <a:ext cx="5303520" cy="53035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5532120"/>
            <a:ext cx="5093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100">
                <a:solidFill>
                  <a:srgbClr val="1D293C"/>
                </a:solidFill>
                <a:latin typeface="Avenir Next"/>
              </a:rPr>
              <a:t>No look-ahead bias: refitting HMM on pre-2024 data only → 100% identical OOS state assignments (n=591 days). The regime structure is not an in-sample artifact.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1371600"/>
            <a:ext cx="6208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REGIME DECODING (VITERBI)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8" y="1627632"/>
            <a:ext cx="620877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mm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1682496"/>
            <a:ext cx="6208776" cy="3840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24728" y="5577840"/>
            <a:ext cx="6208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50">
                <a:solidFill>
                  <a:srgbClr val="8896A2"/>
                </a:solidFill>
                <a:latin typeface="Avenir Next"/>
              </a:rPr>
              <a:t>Top: 5Y spread colored by state. Bottom: MOVE by state. State 0 (red) concentrates in high-MOVE stress episodes.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Random Forest Fails — Not by Chance, but by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56 training events · 69% majority class · hmm_state hurts AUC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2153412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970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13716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OOS PERFORMANCE (29 TEST EVENTS)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" y="16276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5448" y="1682496"/>
          <a:ext cx="4910328" cy="107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822960"/>
                <a:gridCol w="658368"/>
                <a:gridCol w="822960"/>
              </a:tblGrid>
              <a:tr h="26974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Model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Accuracy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F1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ROC AUC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Random Forest (10 features)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72.4%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0.833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0.544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58.6%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Naive (predict majority class)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69.0%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0.816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0.500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5448" y="288036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FEATURE ABLATION: ADDING HMM_STATE HURTS 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" y="313639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5448" y="3200400"/>
          <a:ext cx="510235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804672"/>
                <a:gridCol w="1508760"/>
              </a:tblGrid>
              <a:tr h="25146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Feature Set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Test AUC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vs. Full Model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Full model (10 features)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0.544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—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Full minus hmm_state (9 feat.)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+0.122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Naive baseline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0.500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—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55448" y="425196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8896A2"/>
                </a:solidFill>
                <a:latin typeface="Avenir Next"/>
              </a:rPr>
              <a:t>Removing hmm_state improves AUC by 0.12. The regime signal actively hurts the Random Forest.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" y="43434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THREE STRUCTURAL REASONS FOR 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" y="45994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" y="4663440"/>
            <a:ext cx="5349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Sample size: only 56 training events — no statistical power to learn a 10-feature decision boundary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Class imbalance: 69% majority class → RF memorizes the base rate and predicts 'yes' on nearly every event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Wrong representation: hmm_state is a continuous integer in the RF, but it only contains information as a binary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1371600"/>
            <a:ext cx="6208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CONFUSION MATRIX (OOS)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8" y="1627632"/>
            <a:ext cx="620877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f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1682496"/>
            <a:ext cx="6208776" cy="2286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24728" y="4023360"/>
            <a:ext cx="6208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50">
                <a:solidFill>
                  <a:srgbClr val="8896A2"/>
                </a:solidFill>
                <a:latin typeface="Avenir Next"/>
              </a:rPr>
              <a:t>RF correctly predicts 'yes' on all positives (recall=1.00) but cannot identify negatives — it is not classifying, it is guessing the majority class.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4728" y="4663440"/>
            <a:ext cx="6208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FEATURE IMPORTANCE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24728" y="4919472"/>
            <a:ext cx="620877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f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4974336"/>
            <a:ext cx="6208776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Backtest: HMM Gate Raises Sharpe 31%; RF Filter Is Inoperative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Walk-forward OOS: 2024-01-02 → 2026-03-24 · 1 bp round-trip cost · 10-day hold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2153412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970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13716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STRATEGY COMPARISON — 29 SIGNAL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" y="16276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5448" y="1682496"/>
          <a:ext cx="729691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658368"/>
                <a:gridCol w="658368"/>
                <a:gridCol w="822960"/>
                <a:gridCol w="822960"/>
                <a:gridCol w="658368"/>
                <a:gridCol w="841248"/>
                <a:gridCol w="685800"/>
              </a:tblGrid>
              <a:tr h="26289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Strategy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Trades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Win %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Mean (bps)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Total (bps)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Sharpe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Max DD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950">
                          <a:solidFill>
                            <a:srgbClr val="FFFFFF"/>
                          </a:solidFill>
                          <a:latin typeface="Avenir Next"/>
                        </a:rPr>
                        <a:t>Calmar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 — Rules-Based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20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55.0%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+0.82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+16.4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0.39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−9.6 bps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0.73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2 — RF-Filtered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55.0%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+16.4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−9.6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3 — HMM-Filtered (S=1)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72.7%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+1.55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+17.1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0.51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−9.4 bps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0.78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5448" y="2852928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PER-REGIME BREAKDOWN (STRATEGY 1 TRADES, GROUPED BY HMM STATE AT ENTRY)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" y="3108960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55448" y="3163824"/>
          <a:ext cx="6894576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58368"/>
                <a:gridCol w="658368"/>
                <a:gridCol w="1417320"/>
                <a:gridCol w="1417320"/>
              </a:tblGrid>
              <a:tr h="268224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HMM State at Entry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Trades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Win %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Mean P&amp;L (bps)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Total P&amp;L (bps)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State 1 — Stable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72.7%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+1.55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+17.1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State 0 — Stress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−0.08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−0.7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55448" y="4014216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8896A2"/>
                </a:solidFill>
                <a:latin typeface="Avenir Next"/>
              </a:rPr>
              <a:t>The 9 stress-state trades contributed all of the drawdown and zero net P&amp;L. Strategy 3 simply skips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" y="4133088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WHY RF = RULES (STRATEGY 2 = STRATEGY 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" y="4389120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5448" y="4443984"/>
            <a:ext cx="45720" cy="566928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4443984"/>
            <a:ext cx="7543800" cy="566928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4517136"/>
            <a:ext cx="7333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100">
                <a:solidFill>
                  <a:srgbClr val="1D293C"/>
                </a:solidFill>
                <a:latin typeface="Avenir Next"/>
              </a:rPr>
              <a:t>RF assigns a positive prediction to 28 of 29 OOS events — it passes everything. The filter is inoperative. This is the expected outcome given the 69% training majority class.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" y="5431536"/>
            <a:ext cx="45720" cy="53035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1168" y="5431536"/>
            <a:ext cx="7543800" cy="53035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5504688"/>
            <a:ext cx="7333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HMM improvement: by skipping stress-state trades, Sharpe rises 0.39 → 0.51, win rate 55% → 73%, and max drawdown marginally improves — without changing a single entry signal.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5008" y="1682496"/>
            <a:ext cx="3968496" cy="107899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1682496"/>
            <a:ext cx="3968496" cy="1097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1755648"/>
            <a:ext cx="37490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1A6B3C"/>
                </a:solidFill>
                <a:latin typeface="Avenir Next"/>
              </a:rPr>
              <a:t>0.39→0.51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Sharpe (+31%)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5008" y="2871216"/>
            <a:ext cx="3968496" cy="107899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2871216"/>
            <a:ext cx="3968496" cy="1097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2944368"/>
            <a:ext cx="37490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1A6B3C"/>
                </a:solidFill>
                <a:latin typeface="Avenir Next"/>
              </a:rPr>
              <a:t>55%→73%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Win 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4059936"/>
            <a:ext cx="3968496" cy="107899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4059936"/>
            <a:ext cx="3968496" cy="1097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4133088"/>
            <a:ext cx="37490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2E6DA4"/>
                </a:solidFill>
                <a:latin typeface="Avenir Next"/>
              </a:rPr>
              <a:t>45%</a:t>
            </a:r>
          </a:p>
          <a:p>
            <a:pPr algn="ctr">
              <a:spcBef>
                <a:spcPts val="200"/>
              </a:spcBef>
            </a:pPr>
            <a:r>
              <a:rPr b="0" i="0" sz="950">
                <a:solidFill>
                  <a:srgbClr val="8896A2"/>
                </a:solidFill>
                <a:latin typeface="Avenir Next"/>
              </a:rPr>
              <a:t>Fewer trades
(better efficiency)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HMM Filter Sidesteps All Stress-Period Losses; RF Tracks the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1" sz="1000">
                <a:solidFill>
                  <a:srgbClr val="8896A2"/>
                </a:solidFill>
                <a:latin typeface="Avenir Next"/>
              </a:rPr>
              <a:t>Cumulative P&amp;L — three strategies with HMM regime shading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2153412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56248"/>
            <a:ext cx="1970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13</a:t>
            </a:r>
          </a:p>
        </p:txBody>
      </p:sp>
      <p:pic>
        <p:nvPicPr>
          <p:cNvPr id="9" name="Picture 8" descr="backtest_cumulativ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371600"/>
            <a:ext cx="11878056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5448" y="5596128"/>
            <a:ext cx="45720" cy="640080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5596128"/>
            <a:ext cx="11832336" cy="64008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5669280"/>
            <a:ext cx="11622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1" sz="1100">
                <a:solidFill>
                  <a:srgbClr val="1D293C"/>
                </a:solidFill>
                <a:latin typeface="Avenir Next"/>
              </a:rPr>
              <a:t>Background shading: red = HMM Stress (State 0), blue = HMM Stable (State 1). Green (HMM-filtered) avoids stress episodes. Orange (rules-based) and RF-filtered lines overlap — the RF adds nothing. HMM's selective entry produces higher Sharpe without sacrificing total P&amp;L.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Central Finding: How You Represent a Signal Determines Whether You Capture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64808"/>
            <a:ext cx="2153412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556248"/>
            <a:ext cx="1970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Applied 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" y="13716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SAME SIGNAL — TWO REPRESENTATIONS — OPPOSITE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" y="16276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5448" y="1682496"/>
          <a:ext cx="1178661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212080"/>
                <a:gridCol w="5202936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50">
                          <a:solidFill>
                            <a:srgbClr val="FFFFFF"/>
                          </a:solidFill>
                          <a:latin typeface="Avenir Next"/>
                        </a:rPr>
                        <a:t/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50">
                          <a:solidFill>
                            <a:srgbClr val="FFFFFF"/>
                          </a:solidFill>
                          <a:latin typeface="Avenir Next"/>
                        </a:rPr>
                        <a:t>hmm_state as RF Feature (continuous)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50">
                          <a:solidFill>
                            <a:srgbClr val="FFFFFF"/>
                          </a:solidFill>
                          <a:latin typeface="Avenir Next"/>
                        </a:rPr>
                        <a:t>hmm_state as Trade Gate (binary)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How used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Integer 0/1 passed as one of 10 features to RF tree splits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Boolean: enter only if state = 1 (stable)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Effect on 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−0.122  (removing it improves AUC to 0.667)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N/A — not used in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Effect on P&amp;L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Zero — RF filter passes 28 of 29 events anyway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+0.12 Sharpe  |  +18 pp win rate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100">
                          <a:solidFill>
                            <a:srgbClr val="1D293C"/>
                          </a:solidFill>
                          <a:latin typeface="Avenir Next"/>
                        </a:rPr>
                        <a:t>Why?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RF can't recover latent structure from 56 sparse outcome labels — it memorizes the majority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HMM imposes regime structure directly from market dynamics — no outcome labels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5448" y="41148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SUMMARY OF ALL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" y="43708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5448" y="4425696"/>
          <a:ext cx="1178661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  <a:gridCol w="3557016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50">
                          <a:solidFill>
                            <a:srgbClr val="FFFFFF"/>
                          </a:solidFill>
                          <a:latin typeface="Avenir Next"/>
                        </a:rPr>
                        <a:t>Question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50">
                          <a:solidFill>
                            <a:srgbClr val="FFFFFF"/>
                          </a:solidFill>
                          <a:latin typeface="Avenir Next"/>
                        </a:rPr>
                        <a:t>Answer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50">
                          <a:solidFill>
                            <a:srgbClr val="FFFFFF"/>
                          </a:solidFill>
                          <a:latin typeface="Avenir Next"/>
                        </a:rPr>
                        <a:t>Key Number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RQ1: Does mean reversion exist?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Yes — in every direction, every maturity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100% sign consistency; 5Y d=0.87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RQ2: Is it robust?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Yes — 162 combinations, sign never flips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73% survive FDR; range ≤ 2.83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RQ3: When is it strongest?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Rising-rate regimes, 3× larger reversion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Partial η²=0.28 for rate regime; vol η²=0.000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Applied: does ML add value?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HMM gate yes (+0.12 Sharpe); RF no (inoperative)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100">
                          <a:solidFill>
                            <a:srgbClr val="1D293C"/>
                          </a:solidFill>
                          <a:latin typeface="Avenir Next"/>
                        </a:rPr>
                        <a:t>Representation &gt; model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5367528"/>
            <a:ext cx="12188952" cy="685800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" y="5486400"/>
            <a:ext cx="11878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Avenir Next"/>
              </a:rPr>
              <a:t>"Given scarce labels, imposing known market structure beats trying to learn it from outcomes."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64008"/>
            <a:ext cx="118780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1D293C"/>
                </a:solidFill>
                <a:latin typeface="Avenir Next"/>
              </a:rPr>
              <a:t>Limitations Are Real — the Core Signal Remains Robust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10058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64808"/>
            <a:ext cx="2994660" cy="36576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556248"/>
            <a:ext cx="28117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D293C"/>
                </a:solidFill>
                <a:latin typeface="Avenir Next"/>
              </a:rPr>
              <a:t>Limitations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2608" y="6126480"/>
            <a:ext cx="5212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1D293C"/>
                </a:solidFill>
                <a:latin typeface="Avenir Nex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" y="137160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CURRENT 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" y="162763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5448" y="1682496"/>
          <a:ext cx="6053328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2029968"/>
              </a:tblGrid>
              <a:tr h="47183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Limitation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Detail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Impact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OOS window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27 months, 29 signal events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Sharpe differences are directionally informative but not statistically conclusive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ML training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85 events total, 56 after label construction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Too small for a 10-feature RF — structural failure, not tuning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2Y artifacts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23 LSEG quoting errors in 2022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Retained conservatively in classical tests; excluded from all ML features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471832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Transaction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Flat 1 bp round-trip assumed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Real execution would require size-dependent market-impact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54496" y="1371600"/>
            <a:ext cx="5779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FUTURE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627632"/>
            <a:ext cx="5779008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54496.0" y="1682496"/>
          <a:ext cx="585216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3547872"/>
              </a:tblGrid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Extension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1" i="0" sz="1000">
                          <a:solidFill>
                            <a:srgbClr val="FFFFFF"/>
                          </a:solidFill>
                          <a:latin typeface="Avenir Next"/>
                        </a:rPr>
                        <a:t>Expected Value</a:t>
                      </a:r>
                    </a:p>
                  </a:txBody>
                  <a:tcPr>
                    <a:solidFill>
                      <a:srgbClr val="1D293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Extend history to 2010
(SOFR/LIBOR-OIS splice)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16 years vs. 7 — enough data for conclusive strategy comparisons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Add 1Y and 30Y maturities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Tests whether regime dependence scales with maturity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Real-time HMM filter
(recursive, not batch)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Enables live deployment without look-ahead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Replicate in EUR and GBP
(€STR OIS, SONIA OIS)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Tests whether structural feature is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Pool events across maturities
for ML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b="0" i="0" sz="1050">
                          <a:solidFill>
                            <a:srgbClr val="1D293C"/>
                          </a:solidFill>
                          <a:latin typeface="Avenir Next"/>
                        </a:rPr>
                        <a:t>~250 events — sufficient for proper cross-validation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5448" y="4206240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WHAT REMAINS ROBUST DESPITE THESE LIMITS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" y="4462272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" y="4517136"/>
            <a:ext cx="118780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Mean reversion: 100% sign consistency, 73% FDR survival, across 162 parameter combinations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Regime dependence: partial η²=0.28 for rate direction — a large, stable effect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b="0" i="0" sz="1150">
                <a:solidFill>
                  <a:srgbClr val="1D293C"/>
                </a:solidFill>
                <a:latin typeface="Avenir Next"/>
              </a:rPr>
              <a:t>–   HMM result: directional improvement in Sharpe (+31%) and win rate (+18 pp) with fewer trades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" y="5870448"/>
            <a:ext cx="1187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D293C"/>
                </a:solidFill>
                <a:latin typeface="Avenir Next"/>
              </a:rPr>
              <a:t>ETHICAL CONSIDERATIONS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" y="6126480"/>
            <a:ext cx="11878056" cy="10972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5448" y="6181344"/>
            <a:ext cx="45720" cy="594360"/>
          </a:xfrm>
          <a:prstGeom prst="rect">
            <a:avLst/>
          </a:prstGeom>
          <a:solidFill>
            <a:srgbClr val="1D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6181344"/>
            <a:ext cx="11832336" cy="5943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6254496"/>
            <a:ext cx="1162202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b="0" i="1" sz="1100">
                <a:solidFill>
                  <a:srgbClr val="1D293C"/>
                </a:solidFill>
                <a:latin typeface="Avenir Next"/>
              </a:rPr>
              <a:t>At scale, systematic RV strategies add liquidity in stable regimes but may amplify dislocations in the stress-state windows when they trade least — monitoring systemic exposure is essential for any live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