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7"/>
          </a:solidFill>
          <a:ln w="12700">
            <a:solidFill>
              <a:srgbClr val="0613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97280"/>
            <a:ext cx="73152" cy="4663440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GSAM  </a:t>
            </a:r>
            <a:pPr indent="0" marL="0">
              <a:buNone/>
            </a:pPr>
            <a:r>
              <a:rPr lang="en-US" sz="110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QUANTITATIVE STRATEGIES   |   FIXED-INCOME RELATIVE VALUE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NOTE  ·  APRIL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Reversion in OIS–Treasury Spreads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Evidence, Regime Dependence, and a Hidden Markov Model Trading Filter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2743200" cy="27432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566160"/>
            <a:ext cx="2651760" cy="1005840"/>
          </a:xfrm>
          <a:prstGeom prst="rect">
            <a:avLst/>
          </a:prstGeom>
          <a:solidFill>
            <a:srgbClr val="11264A"/>
          </a:solidFill>
          <a:ln w="6350">
            <a:solidFill>
              <a:srgbClr val="3E5C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639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1,890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6012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observations (2019–2026)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3566160"/>
            <a:ext cx="2651760" cy="1005840"/>
          </a:xfrm>
          <a:prstGeom prst="rect">
            <a:avLst/>
          </a:prstGeom>
          <a:solidFill>
            <a:srgbClr val="11264A"/>
          </a:solidFill>
          <a:ln w="6350">
            <a:solidFill>
              <a:srgbClr val="3E5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639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0332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combinations (100% sign-stable)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3566160"/>
            <a:ext cx="2651760" cy="1005840"/>
          </a:xfrm>
          <a:prstGeom prst="rect">
            <a:avLst/>
          </a:prstGeom>
          <a:solidFill>
            <a:srgbClr val="11264A"/>
          </a:solidFill>
          <a:ln w="6350">
            <a:solidFill>
              <a:srgbClr val="3E5C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639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+0.12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4652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uplift from HMM regime gate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52560" y="3566160"/>
            <a:ext cx="2651760" cy="1005840"/>
          </a:xfrm>
          <a:prstGeom prst="rect">
            <a:avLst/>
          </a:prstGeom>
          <a:solidFill>
            <a:srgbClr val="11264A"/>
          </a:solidFill>
          <a:ln w="6350">
            <a:solidFill>
              <a:srgbClr val="3E5C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3639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18972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reversion in rising-rate regimes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892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Leibowitz  ·  Dhruv Trivedi  ·  Jose Maldonado  ·  Felipe Sanchez-Noguera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23036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Duke University  ·  CS216 Everything Data  ·  Spring 2026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61026"/>
          </a:solidFill>
          <a:ln w="12700">
            <a:solidFill>
              <a:srgbClr val="0610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263640"/>
            <a:ext cx="12191695" cy="27432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6355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RECORDING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https://duke.box.com/s/ois-treasury-mean-reversion-video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6355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400" kern="0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 </a:t>
            </a:r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github.com/crl65/COMPSCI216-Project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9372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structural, regime-contingent mispricing in U.S. rates — tradable with the right representation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14255" y="731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GSAM</a:t>
            </a:r>
            <a:endParaRPr lang="en-US" sz="13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Strategies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6793992"/>
            <a:ext cx="1143000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91440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896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1234440"/>
            <a:ext cx="5852160" cy="3017520"/>
          </a:xfrm>
          <a:prstGeom prst="rect">
            <a:avLst/>
          </a:prstGeom>
          <a:solidFill>
            <a:srgbClr val="EEF1F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34440"/>
            <a:ext cx="73152" cy="3017520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13258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OIS–Treasury spreads mean-revert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" y="17830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±2σ dislocations — a structural, parameter-stable feature of U.S. rates markets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2331720"/>
            <a:ext cx="5486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162 (window × threshold × horizon) cells carry the predicted sign; 73% survive FDR correction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direction — not volatility — triples reversion magnitude (partial η² = 0.28 at 5Y)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2-state HMM used as a 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trade gate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raises OOS Sharpe from 0.39 → 0.51 and win-rate from 55% → 73%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0" y="91440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896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RESEARCH PILLARS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0" y="1234440"/>
            <a:ext cx="5166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1234440"/>
            <a:ext cx="777240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123444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52360" y="12710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Reversion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52360" y="15636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spreads snap back after ±2σ?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81160" y="130759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12 / 18 cells BH-significant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2020824"/>
            <a:ext cx="5166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2020824"/>
            <a:ext cx="777240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020824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52360" y="2057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52360" y="2350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 tuning artifact?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281160" y="209397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stable across 162 parameter cells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0" y="2807208"/>
            <a:ext cx="5166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0" y="2807208"/>
            <a:ext cx="777240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280720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52360" y="28437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Regime Dependence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452360" y="31363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macro state matter?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81160" y="288036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matter (3× effect); vol does not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83680" y="3593592"/>
            <a:ext cx="5166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83680" y="3593592"/>
            <a:ext cx="777240" cy="713232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593592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452360" y="3630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HMM Trade Gate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452360" y="39227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unsupervised regimes help?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281160" y="366674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Sharpe +0.12, DD flat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11480" y="4800600"/>
            <a:ext cx="11338560" cy="150876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" y="4800600"/>
            <a:ext cx="11338560" cy="36576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0080" y="52120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Given scarce labels, </a:t>
            </a:r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imposing </a:t>
            </a:r>
            <a:pPr indent="0" marL="0">
              <a:buNone/>
            </a:pPr>
            <a:r>
              <a:rPr lang="en-US" sz="1800" b="1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regime structure (HMM)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beats trying to </a:t>
            </a:r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it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(Random Forest). </a:t>
            </a:r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 decides whether the same signal helps or hurts.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 &amp; Research Questions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9372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 between swaps and Treasuries matters — and what we test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14255" y="731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GSAM</a:t>
            </a:r>
            <a:endParaRPr lang="en-US" sz="13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Strategies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6793992"/>
            <a:ext cx="1143000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91440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896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1234440"/>
            <a:ext cx="5760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Interest-rate swaps and Treasury bonds price the </a:t>
            </a:r>
            <a:pPr indent="0" marL="0">
              <a:spcAft>
                <a:spcPts val="600"/>
              </a:spcAft>
              <a:buNone/>
            </a:pPr>
            <a:r>
              <a:rPr lang="en-US" sz="1350" b="1" i="1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thing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where short-term rates are headed. Their yields should stay close.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OIS–Treasury </a:t>
            </a:r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hovers around a long-run average — compressing in calm markets, widening under stress. When it drifts too far, a classic RV trade bets on the snap-back.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spreads feed into pension funding ratios, corporate hedging costs, and Federal Reserve market-function assessments — broad practical and policy relevance.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11480" y="4297680"/>
            <a:ext cx="5760720" cy="1783080"/>
          </a:xfrm>
          <a:prstGeom prst="rect">
            <a:avLst/>
          </a:prstGeom>
          <a:solidFill>
            <a:srgbClr val="EEF1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3434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identity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4617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pPr indent="0" marL="0">
              <a:buNone/>
            </a:pPr>
            <a:r>
              <a:rPr lang="en-US" sz="1300" i="1" baseline="-40000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t,τ</a:t>
            </a:r>
            <a:pPr indent="0" marL="0">
              <a:buNone/>
            </a:pPr>
            <a:r>
              <a:rPr lang="en-US" sz="2200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=  OIS</a:t>
            </a:r>
            <a:pPr indent="0" marL="0">
              <a:buNone/>
            </a:pPr>
            <a:r>
              <a:rPr lang="en-US" sz="1300" i="1" baseline="-40000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t,τ</a:t>
            </a:r>
            <a:pPr indent="0" marL="0">
              <a:buNone/>
            </a:pPr>
            <a:r>
              <a:rPr lang="en-US" sz="2200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−  DGS</a:t>
            </a:r>
            <a:pPr indent="0" marL="0">
              <a:buNone/>
            </a:pPr>
            <a:r>
              <a:rPr lang="en-US" sz="1300" i="1" baseline="-40000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t,τ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4360" y="5303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sign: </a:t>
            </a:r>
            <a:pPr indent="0" marL="0"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(OIS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Treasury yield due to </a:t>
            </a:r>
            <a:pPr indent="0" marL="0">
              <a:buNone/>
            </a:pPr>
            <a:r>
              <a:rPr lang="en-US" sz="11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Treasury liquidity premium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" y="56692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reversion = the tendency of the spread to return to its average after a large deviation. The trading signal: 60-day rolling z-score with |z| &gt; 2.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91440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896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46520" y="1234440"/>
            <a:ext cx="5303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1234440"/>
            <a:ext cx="109728" cy="114300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1325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 1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72668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Existence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1691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OIS–Treasury spreads mean-revert after extreme ±2σ signals?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46520" y="2487168"/>
            <a:ext cx="5303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2487168"/>
            <a:ext cx="109728" cy="114300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25786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 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726680" y="2578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75120" y="29443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robust to the choice of rolling window, threshold, and forward horizon?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46520" y="3739896"/>
            <a:ext cx="5303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6520" y="3739896"/>
            <a:ext cx="109728" cy="114300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38313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 3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726680" y="38313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Regime Dependence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75120" y="41970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mean-reversion magnitude differ across rate-direction and volatility regimes?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46520" y="4992624"/>
            <a:ext cx="5303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46520" y="4992624"/>
            <a:ext cx="109728" cy="1143000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50840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726680" y="50840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Extension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675120" y="544982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unsupervised HMM detect those regimes in a way that improves out-of-sample trading performance more than a supervised classifier?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 &amp; Panel Construction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9372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1,890 daily observations · Jan 2019 — Apr 2026 · 2Y, 5Y, 10Y maturities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14255" y="731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GSAM</a:t>
            </a:r>
            <a:endParaRPr lang="en-US" sz="13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Strategies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6793992"/>
            <a:ext cx="1143000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91440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896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SERIES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58521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920240"/>
                <a:gridCol w="210312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 / Series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DGS2 / DGS5 / DGS10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Treasury CMT yields, 2/5/10Y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yields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Fed Funds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Rate-regime classifier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LSEG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USDOIS2/5/10Y=PYNY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SOFR OIS par rates, 2/5/10Y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rates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LSEG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.MOVE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 BofA MOVE Index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Treasury vol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11480" y="30632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 (percentage points)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383280"/>
          <a:ext cx="58521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822960"/>
                <a:gridCol w="914400"/>
                <a:gridCol w="91440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Neg.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spread_2y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spread_5y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spread_10y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411480" y="46177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OIS trades below Treasuries ~100% of the time at 5Y/10Y — the positive Treasury liquidity premium at work.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446520" y="91440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629400" y="896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CONSTRUCTION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446520" y="1234440"/>
            <a:ext cx="5303520" cy="713232"/>
          </a:xfrm>
          <a:prstGeom prst="rect">
            <a:avLst/>
          </a:prstGeom>
          <a:solidFill>
            <a:srgbClr val="F4F5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556248" y="1399032"/>
            <a:ext cx="402336" cy="402336"/>
          </a:xfrm>
          <a:prstGeom prst="ellipse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56248" y="1399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7040880" y="1307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8366760" y="128016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holiday sentinels (".") → NaN; LSEG multi-row headers located dynamically, mid-rate = (Bid+Ask)/2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446520" y="2039112"/>
            <a:ext cx="5303520" cy="713232"/>
          </a:xfrm>
          <a:prstGeom prst="rect">
            <a:avLst/>
          </a:prstGeom>
          <a:solidFill>
            <a:srgbClr val="F4F5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556248" y="2203704"/>
            <a:ext cx="402336" cy="402336"/>
          </a:xfrm>
          <a:prstGeom prst="ellipse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556248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7040880" y="21122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8366760" y="208483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FRED × LSEG by date; 5-business-day forward-fill covers federal holidays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446520" y="2843784"/>
            <a:ext cx="5303520" cy="713232"/>
          </a:xfrm>
          <a:prstGeom prst="rect">
            <a:avLst/>
          </a:prstGeom>
          <a:solidFill>
            <a:srgbClr val="F4F5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556248" y="3008376"/>
            <a:ext cx="402336" cy="402336"/>
          </a:xfrm>
          <a:prstGeom prst="ellipse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556248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7040880" y="2916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Spread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8366760" y="288950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sₜ,τ = OISₜ,τ − DGSₜ,τ  for τ ∈ {2Y, 5Y, 10Y}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6446520" y="3648456"/>
            <a:ext cx="5303520" cy="713232"/>
          </a:xfrm>
          <a:prstGeom prst="rect">
            <a:avLst/>
          </a:prstGeom>
          <a:solidFill>
            <a:srgbClr val="F4F5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556248" y="3813048"/>
            <a:ext cx="402336" cy="402336"/>
          </a:xfrm>
          <a:prstGeom prst="ellipse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556248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7040880" y="3721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</a:t>
            </a:r>
            <a:endParaRPr lang="en-US" sz="1300" dirty="0"/>
          </a:p>
        </p:txBody>
      </p:sp>
      <p:sp>
        <p:nvSpPr>
          <p:cNvPr id="43" name="Text 39"/>
          <p:cNvSpPr/>
          <p:nvPr/>
        </p:nvSpPr>
        <p:spPr>
          <a:xfrm>
            <a:off x="8366760" y="369417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rolling z-score zₜ = (sₜ − μ⁶⁰) / σ⁶⁰; event if |z| &gt; 2 with ≥5-day gap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6446520" y="4453128"/>
            <a:ext cx="5303520" cy="713232"/>
          </a:xfrm>
          <a:prstGeom prst="rect">
            <a:avLst/>
          </a:prstGeom>
          <a:solidFill>
            <a:srgbClr val="F4F5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6556248" y="4617720"/>
            <a:ext cx="402336" cy="402336"/>
          </a:xfrm>
          <a:prstGeom prst="ellipse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556248" y="4617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47" name="Text 43"/>
          <p:cNvSpPr/>
          <p:nvPr/>
        </p:nvSpPr>
        <p:spPr>
          <a:xfrm>
            <a:off x="7040880" y="4526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Regimes</a:t>
            </a:r>
            <a:endParaRPr lang="en-US" sz="1300" dirty="0"/>
          </a:p>
        </p:txBody>
      </p:sp>
      <p:sp>
        <p:nvSpPr>
          <p:cNvPr id="48" name="Text 44"/>
          <p:cNvSpPr/>
          <p:nvPr/>
        </p:nvSpPr>
        <p:spPr>
          <a:xfrm>
            <a:off x="8366760" y="449884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EFFR change (60d) → rising/falling; MOVE vs. 60-day median → high/low vol</a:t>
            </a:r>
            <a:endParaRPr lang="en-US" sz="1050" dirty="0"/>
          </a:p>
        </p:txBody>
      </p:sp>
      <p:sp>
        <p:nvSpPr>
          <p:cNvPr id="49" name="Shape 45"/>
          <p:cNvSpPr/>
          <p:nvPr/>
        </p:nvSpPr>
        <p:spPr>
          <a:xfrm>
            <a:off x="6446520" y="5440680"/>
            <a:ext cx="5303520" cy="868680"/>
          </a:xfrm>
          <a:prstGeom prst="rect">
            <a:avLst/>
          </a:prstGeom>
          <a:solidFill>
            <a:srgbClr val="FFF3D6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446520" y="5440680"/>
            <a:ext cx="73152" cy="868680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6611112" y="5486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4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NOTE</a:t>
            </a:r>
            <a:endParaRPr lang="en-US" sz="1000" dirty="0"/>
          </a:p>
        </p:txBody>
      </p:sp>
      <p:sp>
        <p:nvSpPr>
          <p:cNvPr id="52" name="Text 48"/>
          <p:cNvSpPr/>
          <p:nvPr/>
        </p:nvSpPr>
        <p:spPr>
          <a:xfrm>
            <a:off x="6611112" y="5760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dates in 2Y show spread &gt; 1.0 pp — LSEG quoting artifacts (OIS jumps ~200 bps while DGS2 stays flat then reverts). Retained in classical analysis (conservative) but excluded from all ML features.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the Dislocation: The 60-Day Z-Score Signal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9372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|z| &gt; 2 events isolate the tails where mean reversion should be most visible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14255" y="731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GSAM</a:t>
            </a:r>
            <a:endParaRPr lang="en-US" sz="13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Strategies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6793992"/>
            <a:ext cx="1143000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914400"/>
            <a:ext cx="763524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9601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60-Day Rolling Z-Score — 5Y OIS–Treasury Spread</a:t>
            </a:r>
            <a:endParaRPr lang="en-US" sz="1400" dirty="0"/>
          </a:p>
        </p:txBody>
      </p:sp>
      <p:pic>
        <p:nvPicPr>
          <p:cNvPr id="18" name="Image 0" descr="/sessions/adoring-dreamy-cannon/mnt/COMPSCI216-Project/outputs/figures/z_score_time_ser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25880"/>
            <a:ext cx="7452360" cy="46634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02920" y="5989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Authors' calculations · FRED (DGS) + LSEG (OIS)  ·  ±2σ thresholds marked as horizontal dashes.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229600" y="91440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0" y="896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SIGNAL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29600" y="128016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rolling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standardizes each spread observation against its own 60-day history: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i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zₜ = (sₜ − μ⁶⁰ₜ) / σ⁶⁰ₜ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rates are consistent with a mean-reverting series with moderately fat tails. Events are de-clustered with a minimum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5-business-day gap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one episode doesn't count multiple times.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229600" y="379476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12480" y="37764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NON-OVERLAPPING EVENTS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229600" y="4114800"/>
            <a:ext cx="3520440" cy="292608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29600" y="41148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372600" y="4114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&lt; −2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561320" y="4114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&gt; +2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229600" y="4407408"/>
            <a:ext cx="3520440" cy="365760"/>
          </a:xfrm>
          <a:prstGeom prst="rect">
            <a:avLst/>
          </a:prstGeom>
          <a:solidFill>
            <a:srgbClr val="F4F5F7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29600" y="44074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2Y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9372600" y="4407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561320" y="4407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229600" y="4773168"/>
            <a:ext cx="35204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29600" y="47731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5Y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372600" y="4773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0561320" y="4773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8229600" y="5138928"/>
            <a:ext cx="3520440" cy="365760"/>
          </a:xfrm>
          <a:prstGeom prst="rect">
            <a:avLst/>
          </a:prstGeom>
          <a:solidFill>
            <a:srgbClr val="F4F5F7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29600" y="51389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10Y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9372600" y="51389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10561320" y="51389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8229600" y="5852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239 non-overlapping events across the panel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 — Does the Spread Snap Back?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9372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spread path in a 30-day window centered on each ±2σ event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14255" y="731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GSAM</a:t>
            </a:r>
            <a:endParaRPr lang="en-US" sz="13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Strategies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03320" y="6793992"/>
            <a:ext cx="1143000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914400"/>
            <a:ext cx="77724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9601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Study — 3 maturities × 2 signal directions</a:t>
            </a:r>
            <a:endParaRPr lang="en-US" sz="1300" dirty="0"/>
          </a:p>
        </p:txBody>
      </p:sp>
      <p:pic>
        <p:nvPicPr>
          <p:cNvPr id="18" name="Image 0" descr="/sessions/adoring-dreamy-cannon/mnt/COMPSCI216-Project/outputs/figures/rq1_event_stud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98448"/>
            <a:ext cx="7589520" cy="47091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02920" y="60167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panel: average spread path normalized to zero at signal time · Rows = maturities (2Y, 5Y, 10Y) · Cols = signal direction (too-low / too-high).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366760" y="91440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49640" y="896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366760" y="128016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panel the spread drifts back toward zero — the expected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mean-reversion shape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roughly half-complete by day 10.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 is consistent with tradable reversion: spreads compressed by ~half their dislocation within two weeks, with relatively stable post-event paths.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366760" y="3520440"/>
            <a:ext cx="3383280" cy="137160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5820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stat · 5Y z&lt;−2, 10-day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458200" y="3886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+2.68 bps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8458200" y="4389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= 0.87 · 95% CI [+1.81, +3.61]  →  large, consistent, tradable effect (cost: 1 bp round-trip).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366760" y="507492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49640" y="50566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366760" y="5394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t-tests + percentile-bootstrap CIs, supplemented with Wilcoxon signed-rank, Cohen's d, and Benjamini–Hochberg FDR correction across the 18-cell grid.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 — Statistical Evidence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9372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forward change after ±2σ events · all 6 cells carry the predicted sign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14255" y="731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GSAM</a:t>
            </a:r>
            <a:endParaRPr lang="en-US" sz="13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Strategies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03320" y="6793992"/>
            <a:ext cx="1143000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91440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896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· PRIMARY SPECIFICATION (10-DAY HORIZON)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73152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640080"/>
                <a:gridCol w="1234440"/>
                <a:gridCol w="1051560"/>
                <a:gridCol w="914400"/>
                <a:gridCol w="914400"/>
                <a:gridCol w="5486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(bps)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Cohen's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(BH)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&lt; −2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&gt; 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−21.17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&lt; −2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&gt; 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&lt; −2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&gt; 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11480" y="4206240"/>
            <a:ext cx="7315200" cy="2103120"/>
          </a:xfrm>
          <a:prstGeom prst="rect">
            <a:avLst/>
          </a:prstGeom>
          <a:solidFill>
            <a:srgbClr val="EEF1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4206240"/>
            <a:ext cx="73152" cy="2103120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42976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" y="4572000"/>
            <a:ext cx="7040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18 cells (full grid, see Appendix) show the sign predicted by mean reversion.  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of 18 survive Benjamini–Hochberg FDR correction at q &lt; 0.05 — controls false positives across families.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Largest, most consistent effect at 5Y z &lt; −2 (Cohen's d = 0.87) — conventionally a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effect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economically actionable vs. a 1 bp round-trip cost.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2Y z &gt; +2 shows a statistically significant −21 bps, but is dominated by LSEG 2022 quoting artifacts; 5Y and 10Y are the clean read.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955280" y="914400"/>
            <a:ext cx="3794760" cy="539496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55280" y="914400"/>
            <a:ext cx="3794760" cy="36576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9244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1 · VERDICT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092440" y="1371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Confirmed.</a:t>
            </a:r>
            <a:endParaRPr lang="en-US" sz="4000" dirty="0"/>
          </a:p>
        </p:txBody>
      </p:sp>
      <p:sp>
        <p:nvSpPr>
          <p:cNvPr id="27" name="Text 24"/>
          <p:cNvSpPr/>
          <p:nvPr/>
        </p:nvSpPr>
        <p:spPr>
          <a:xfrm>
            <a:off x="8092440" y="20574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reversion is present, practically meaningful, and statistically robust across maturities and signal directions.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092440" y="3154680"/>
            <a:ext cx="3520440" cy="0"/>
          </a:xfrm>
          <a:prstGeom prst="line">
            <a:avLst/>
          </a:prstGeom>
          <a:noFill/>
          <a:ln w="12700">
            <a:solidFill>
              <a:srgbClr val="3E5C8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9244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/ 18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809244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predicted sign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092440" y="4069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/ 18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092440" y="4389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after BH-FDR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092440" y="4754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= 0.87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80924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Cohen's d (5Y z&lt;−2)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092440" y="5440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+2.68 bps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8092440" y="5760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mean reversion, 5Y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11480" y="3886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Sig. codes:  *** p&lt;0.001  **  p&lt;0.01  *  p&lt;0.05  .  p&lt;0.10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 — Is It a Parameter Tuning Artifact?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9372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 combinations of rolling-window × z-threshold × forward horizon  ·  with BH-FDR throughout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14255" y="731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GSAM</a:t>
            </a:r>
            <a:endParaRPr lang="en-US" sz="13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Strategies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03320" y="6793992"/>
            <a:ext cx="1143000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914400"/>
            <a:ext cx="71323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9601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5Y × 10-day horizon  —  p-value heatmap across window (rows) × threshold (cols)</a:t>
            </a:r>
            <a:endParaRPr lang="en-US" sz="1200" dirty="0"/>
          </a:p>
        </p:txBody>
      </p:sp>
      <p:pic>
        <p:nvPicPr>
          <p:cNvPr id="18" name="Image 0" descr="/sessions/adoring-dreamy-cannon/mnt/COMPSCI216-Project/outputs/figures/rq2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98448"/>
            <a:ext cx="6949440" cy="32004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11480" y="4754880"/>
            <a:ext cx="7132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47823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stability · mean forward change (bps) with 95% CIs across 9 (window, threshold) pairs</a:t>
            </a:r>
            <a:endParaRPr lang="en-US" sz="1000" dirty="0"/>
          </a:p>
        </p:txBody>
      </p:sp>
      <p:pic>
        <p:nvPicPr>
          <p:cNvPr id="21" name="Image 1" descr="/sessions/adoring-dreamy-cannon/mnt/COMPSCI216-Project/outputs/figures/rq2_coefplo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5074920"/>
            <a:ext cx="6949440" cy="11887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7726680" y="91440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909560" y="896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STABILITY SUMMARY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234440"/>
          <a:ext cx="402336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5087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combinations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predicted by reversion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 (100%)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Survive BH-FDR at q &lt; 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 (73%)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across window levels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2.83 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across threshold levels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2.72 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across horizon levels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 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0"/>
          <p:cNvSpPr/>
          <p:nvPr/>
        </p:nvSpPr>
        <p:spPr>
          <a:xfrm>
            <a:off x="7726680" y="3657600"/>
            <a:ext cx="4023360" cy="265176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726680" y="3657600"/>
            <a:ext cx="4023360" cy="36576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863840" y="3794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2 · VERDICT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7863840" y="40690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Structural, not a tuning artifact.</a:t>
            </a:r>
            <a:endParaRPr lang="en-US" sz="2200" dirty="0"/>
          </a:p>
        </p:txBody>
      </p:sp>
      <p:sp>
        <p:nvSpPr>
          <p:cNvPr id="29" name="Text 24"/>
          <p:cNvSpPr/>
          <p:nvPr/>
        </p:nvSpPr>
        <p:spPr>
          <a:xfrm>
            <a:off x="7863840" y="51663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 </a:t>
            </a:r>
            <a:pPr indent="0" marL="0">
              <a:buNone/>
            </a:pPr>
            <a:r>
              <a:rPr lang="en-US" sz="1300" b="1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flips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any combination of rolling window, z-threshold, or forward horizon.  Magnitude varies by ≤3 bps.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 — Regime Dependence: Which Macro Factor Matters?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9372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ANOVA decomposing reversion variance across rate regime × volatility regime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14255" y="731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GSAM</a:t>
            </a:r>
            <a:endParaRPr lang="en-US" sz="13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Strategies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49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6793992"/>
            <a:ext cx="1143000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91440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896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ANOVA · 5Y SIGNALS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6858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  <a:gridCol w="1005840"/>
                <a:gridCol w="118872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η²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&lt; −2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rate_regime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&lt; −2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vol_regime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&lt; −2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× vol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&gt; 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rate_regime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&gt; 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vol_regime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&gt; 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× vol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11480" y="3611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cells mark the statistically dominant driver — rate regime explains ≈28% of variance in 5Y reversion size.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11480" y="4023360"/>
            <a:ext cx="6858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40507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vs. 10-day forward change (5Y/10Y events pooled) — continuous relationship, negative slope</a:t>
            </a:r>
            <a:endParaRPr lang="en-US" sz="1000" dirty="0"/>
          </a:p>
        </p:txBody>
      </p:sp>
      <p:pic>
        <p:nvPicPr>
          <p:cNvPr id="22" name="Image 0" descr="/sessions/adoring-dreamy-cannon/mnt/COMPSCI216-Project/outputs/figures/rq3_move_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4315968"/>
            <a:ext cx="6675120" cy="192024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498080" y="91440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680960" y="896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DECOMPOSITION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498080" y="1234440"/>
            <a:ext cx="4251960" cy="1371600"/>
          </a:xfrm>
          <a:prstGeom prst="rect">
            <a:avLst/>
          </a:prstGeom>
          <a:solidFill>
            <a:srgbClr val="D6EAE0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35240" y="13258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REGIME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635240" y="157276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η² = 0.28</a:t>
            </a:r>
            <a:endParaRPr lang="en-US" sz="3000" dirty="0"/>
          </a:p>
        </p:txBody>
      </p:sp>
      <p:sp>
        <p:nvSpPr>
          <p:cNvPr id="28" name="Text 24"/>
          <p:cNvSpPr/>
          <p:nvPr/>
        </p:nvSpPr>
        <p:spPr>
          <a:xfrm>
            <a:off x="7635240" y="21031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effect — spreads behave differently when the Fed is hiking vs. cutting.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498080" y="2697480"/>
            <a:ext cx="4251960" cy="1371600"/>
          </a:xfrm>
          <a:prstGeom prst="rect">
            <a:avLst/>
          </a:prstGeom>
          <a:solidFill>
            <a:srgbClr val="F3DADB"/>
          </a:solidFill>
          <a:ln w="12700">
            <a:solidFill>
              <a:srgbClr val="9E2A2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635240" y="27889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REGIME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635240" y="303580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E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η² ≈ 0.00</a:t>
            </a:r>
            <a:endParaRPr lang="en-US" sz="3000" dirty="0"/>
          </a:p>
        </p:txBody>
      </p:sp>
      <p:sp>
        <p:nvSpPr>
          <p:cNvPr id="32" name="Text 28"/>
          <p:cNvSpPr/>
          <p:nvPr/>
        </p:nvSpPr>
        <p:spPr>
          <a:xfrm>
            <a:off x="7635240" y="35661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binary effect.  Continuous MOVE level still matters (see scatter, r ≈ −0.34).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7498080" y="4206240"/>
            <a:ext cx="4251960" cy="210312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498080" y="4206240"/>
            <a:ext cx="4251960" cy="36576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635240" y="4343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3 · VERDICT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7635240" y="46634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Rates matter.  Vol (binary) does not.</a:t>
            </a:r>
            <a:endParaRPr lang="en-US" sz="1800" dirty="0"/>
          </a:p>
        </p:txBody>
      </p:sp>
      <p:sp>
        <p:nvSpPr>
          <p:cNvPr id="37" name="Text 33"/>
          <p:cNvSpPr/>
          <p:nvPr/>
        </p:nvSpPr>
        <p:spPr>
          <a:xfrm>
            <a:off x="7635240" y="54864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Rising-rate periods generate ~3× larger reversion (+5.40 vs +1.67 bps at 5Y z&lt;−2) — the actionable conditioning variable.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 — Rate Regime Is the Actionable Conditioning Variable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9372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Rising-rate environments amplify mean reversion by ~3× at 5Y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14255" y="731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GSAM</a:t>
            </a:r>
            <a:endParaRPr lang="en-US" sz="13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Strategies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49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6793992"/>
            <a:ext cx="1143000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91440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896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RATE-REGIME SPLIT · MEAN 10-DAY FORWARD CHANGE (BPS)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71323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691640"/>
                <a:gridCol w="1691640"/>
                <a:gridCol w="868680"/>
                <a:gridCol w="868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Rising rates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Falling rates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(diff)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Cohen's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&lt; −2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+5.40 (n=13)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+1.67 (n=35)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&gt; 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−10.84 (n=11)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−0.89 (n=26)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&lt; −2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+3.11 (n=13)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+2.86 (n=31)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&gt; 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−5.37 (n=15)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−3.23 (n=22)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11480" y="3337560"/>
            <a:ext cx="7132320" cy="1188720"/>
          </a:xfrm>
          <a:prstGeom prst="rect">
            <a:avLst/>
          </a:prstGeom>
          <a:solidFill>
            <a:srgbClr val="D6EAE0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3337560"/>
            <a:ext cx="73152" cy="1188720"/>
          </a:xfrm>
          <a:prstGeom prst="rect">
            <a:avLst/>
          </a:prstGeom>
          <a:solidFill>
            <a:srgbClr val="1F6B4A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3401568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5Y z &lt; −2  ·  Rising-rate reversion is +5.40 bps vs +1.67 bps in falling-rate periods  →  3.2× larger.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0080" y="3749040"/>
            <a:ext cx="6812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= 1.21 (very large).  p &lt; 0.001 for the between-regime difference.  Tight confidence intervals support trading on this split.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11480" y="475488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7365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RISING RATES AMPLIFY REVERSION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11480" y="507492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Balance-sheet constraints intensify when short-rate funding costs climb, forcing dealers to close stale RV positions.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Swap-spread narrowing on hikes brings OIS and Treasuries back toward their long-run offset faster than in cut cycles.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RQ3 Part B: at the continuous level, higher MOVE is also associated with larger snap-back for positive-z signals.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726680" y="914400"/>
            <a:ext cx="40233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1812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Joint regime heatmap (mean 10-day Δ, bps)</a:t>
            </a:r>
            <a:endParaRPr lang="en-US" sz="1200" dirty="0"/>
          </a:p>
        </p:txBody>
      </p:sp>
      <p:pic>
        <p:nvPicPr>
          <p:cNvPr id="28" name="Image 0" descr="/sessions/adoring-dreamy-cannon/mnt/COMPSCI216-Project/outputs/figures/rq3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1280160"/>
            <a:ext cx="38404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Extension — Unsupervised Regime Detection via HMM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9372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2-state Gaussian HMM on (spread_5y, 60-day EFFR change) · Baum–Welch fit, Viterbi decoding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14255" y="731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GSAM</a:t>
            </a:r>
            <a:endParaRPr lang="en-US" sz="13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Strategies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49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6793992"/>
            <a:ext cx="1143000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914400"/>
            <a:ext cx="7315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960120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Viterbi-decoded states aligned with 5Y spread (top) and MOVE (bottom)</a:t>
            </a:r>
            <a:endParaRPr lang="en-US" sz="1200" dirty="0"/>
          </a:p>
        </p:txBody>
      </p:sp>
      <p:pic>
        <p:nvPicPr>
          <p:cNvPr id="18" name="Image 0" descr="/sessions/adoring-dreamy-cannon/mnt/COMPSCI216-Project/outputs/figures/hmm_regim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178040" cy="4892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02920" y="6172200"/>
            <a:ext cx="7178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0 (stress/trending) concentrates in high-MOVE episodes; State 1 (stable/mean-reverting) in calm markets.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909560" y="91440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92440" y="896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DIAGNOSTICS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02920"/>
                <a:gridCol w="777240"/>
                <a:gridCol w="868680"/>
                <a:gridCol w="868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Rising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MOVE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5Y sp.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Stress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Stable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7909560" y="251460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092440" y="24963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MATRIX</a:t>
            </a:r>
            <a:endParaRPr lang="en-US" sz="10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0" y="283464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S0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S1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1"/>
          <p:cNvSpPr/>
          <p:nvPr/>
        </p:nvSpPr>
        <p:spPr>
          <a:xfrm>
            <a:off x="7909560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dwell ≈ 171 / 194 days  →  slow, structural shifts a fixed-income desk can condition on.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909560" y="4434840"/>
            <a:ext cx="3840480" cy="187452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909560" y="4434840"/>
            <a:ext cx="3840480" cy="36576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046720" y="4572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LOOK-AHEAD CHECK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8046720" y="4846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600" dirty="0"/>
          </a:p>
        </p:txBody>
      </p:sp>
      <p:sp>
        <p:nvSpPr>
          <p:cNvPr id="31" name="Text 26"/>
          <p:cNvSpPr/>
          <p:nvPr/>
        </p:nvSpPr>
        <p:spPr>
          <a:xfrm>
            <a:off x="8046720" y="5394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state agreement between full-sample and pre-2024-only fits (n = 591 days) — no look-ahead bias.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Signal, Two Representations — Why RF Hurts and HMM Helps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9372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Tree-splits on a continuous hmm_state feature destroy information; a binary trade-gate preserves it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14255" y="731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GSAM</a:t>
            </a:r>
            <a:endParaRPr lang="en-US" sz="13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Strategies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49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6793992"/>
            <a:ext cx="1143000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914400"/>
            <a:ext cx="566928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914400"/>
            <a:ext cx="5669280" cy="502920"/>
          </a:xfrm>
          <a:prstGeom prst="rect">
            <a:avLst/>
          </a:prstGeom>
          <a:solidFill>
            <a:srgbClr val="9E2A2F"/>
          </a:solidFill>
          <a:ln w="12700">
            <a:solidFill>
              <a:srgbClr val="9E2A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9144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 · continuous feature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E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0.544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94360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above chance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176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ΔAUC from adding hmm_state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E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−0.122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265176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signal actively hurts the classifier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108960"/>
          <a:ext cx="53035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(10 features)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minus hmm_state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 majority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94360" y="4754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fails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4360" y="50292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9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56 training events · 69% majority class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9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split at fixed thresholds — can't encode “regime-conditioned structure”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9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hmm_state contributes ≈ 0 signal relative to MOVE-based features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263640" y="914400"/>
            <a:ext cx="54864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63640" y="914400"/>
            <a:ext cx="5486400" cy="502920"/>
          </a:xfrm>
          <a:prstGeom prst="rect">
            <a:avLst/>
          </a:prstGeom>
          <a:solidFill>
            <a:srgbClr val="1F6B4A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63640" y="914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HMM · binary trade gate (trade only in State 1)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44652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(OOS)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46520" y="1920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0.39 → 0.51</a:t>
            </a:r>
            <a:endParaRPr lang="en-US" sz="2800" dirty="0"/>
          </a:p>
        </p:txBody>
      </p:sp>
      <p:sp>
        <p:nvSpPr>
          <p:cNvPr id="33" name="Text 30"/>
          <p:cNvSpPr/>
          <p:nvPr/>
        </p:nvSpPr>
        <p:spPr>
          <a:xfrm>
            <a:off x="644652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+0.12 vs. rules-based baseline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23544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Win-rate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235440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55% → 73%</a:t>
            </a:r>
            <a:endParaRPr lang="en-US" sz="2800" dirty="0"/>
          </a:p>
        </p:txBody>
      </p:sp>
      <p:sp>
        <p:nvSpPr>
          <p:cNvPr id="36" name="Text 33"/>
          <p:cNvSpPr/>
          <p:nvPr/>
        </p:nvSpPr>
        <p:spPr>
          <a:xfrm>
            <a:off x="923544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55% as many events</a:t>
            </a:r>
            <a:endParaRPr lang="en-US" sz="10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108960"/>
          <a:ext cx="5120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731520"/>
                <a:gridCol w="100584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HMM state at entry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(bps)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(bps)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1 · Stable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0 · Stress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6446520" y="4251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6446520" y="45262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is fit to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dynamics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(spread + rate change), not to scarce event labels.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gate ≡ skip State-0 trades.  All 9 stress-state trades produced every dollar of drawdown and zero net P&amp;L.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entry signal — no refitting of the trigger.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Out-of-Sample Backtest — Three Strategies, One Trigger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9372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2024-01-02 to 2026-03-24  ·  29 events  ·  1 bp round-trip cost  ·  exit at 10 days or z-crossing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14255" y="731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GSAM</a:t>
            </a:r>
            <a:endParaRPr lang="en-US" sz="13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Strategies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49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6793992"/>
            <a:ext cx="1143000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914400"/>
            <a:ext cx="2697480" cy="777240"/>
          </a:xfrm>
          <a:prstGeom prst="rect">
            <a:avLst/>
          </a:prstGeom>
          <a:solidFill>
            <a:srgbClr val="EEF1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914400"/>
            <a:ext cx="73152" cy="777240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960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12161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 months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291840" y="914400"/>
            <a:ext cx="2697480" cy="777240"/>
          </a:xfrm>
          <a:prstGeom prst="rect">
            <a:avLst/>
          </a:prstGeom>
          <a:solidFill>
            <a:srgbClr val="EEF1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914400"/>
            <a:ext cx="73152" cy="777240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960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(OOS)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12161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72200" y="914400"/>
            <a:ext cx="2697480" cy="777240"/>
          </a:xfrm>
          <a:prstGeom prst="rect">
            <a:avLst/>
          </a:prstGeom>
          <a:solidFill>
            <a:srgbClr val="EEF1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914400"/>
            <a:ext cx="73152" cy="777240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960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COST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12161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bp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052560" y="914400"/>
            <a:ext cx="2697480" cy="777240"/>
          </a:xfrm>
          <a:prstGeom prst="rect">
            <a:avLst/>
          </a:prstGeom>
          <a:solidFill>
            <a:srgbClr val="EEF1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52560" y="914400"/>
            <a:ext cx="73152" cy="777240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0" y="960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UPLIFT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235440" y="12161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+0.12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411480" y="187452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8562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4 · STRATEGY COMPARISON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194560"/>
          <a:ext cx="113385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914400"/>
                <a:gridCol w="1280160"/>
                <a:gridCol w="1280160"/>
                <a:gridCol w="109728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(bps)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(bps)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DD (bps)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Rules-based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RF-filtered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HMM-filtered (S=1)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E0"/>
                    </a:solidFill>
                  </a:tcPr>
                </a:tc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411480" y="4434840"/>
            <a:ext cx="3657600" cy="1874520"/>
          </a:xfrm>
          <a:prstGeom prst="rect">
            <a:avLst/>
          </a:prstGeom>
          <a:solidFill>
            <a:srgbClr val="F4F5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4434840"/>
            <a:ext cx="73152" cy="1874520"/>
          </a:xfrm>
          <a:prstGeom prst="rect">
            <a:avLst/>
          </a:prstGeom>
          <a:solidFill>
            <a:srgbClr val="3E5C8A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2648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1 · Baseline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12648" y="48920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every ±2σ event with no filter. 55% win rate, 0.39 Sharpe — a tradable but unimpressive rules-based signal.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4251960" y="4434840"/>
            <a:ext cx="3657600" cy="1874520"/>
          </a:xfrm>
          <a:prstGeom prst="rect">
            <a:avLst/>
          </a:prstGeom>
          <a:solidFill>
            <a:srgbClr val="F3DAD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251960" y="4434840"/>
            <a:ext cx="73152" cy="1874520"/>
          </a:xfrm>
          <a:prstGeom prst="rect">
            <a:avLst/>
          </a:prstGeom>
          <a:solidFill>
            <a:srgbClr val="9E2A2F"/>
          </a:solidFill>
          <a:ln w="12700">
            <a:solidFill>
              <a:srgbClr val="9E2A2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453128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2 · RF Filter — Inoperative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4453128" y="48920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of 29 events clear the RF probability threshold. In practice the filter is a no-op; performance is identical to Strategy 1.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8092440" y="4434840"/>
            <a:ext cx="3657600" cy="1874520"/>
          </a:xfrm>
          <a:prstGeom prst="rect">
            <a:avLst/>
          </a:prstGeom>
          <a:solidFill>
            <a:srgbClr val="D6EAE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092440" y="4434840"/>
            <a:ext cx="73152" cy="1874520"/>
          </a:xfrm>
          <a:prstGeom prst="rect">
            <a:avLst/>
          </a:prstGeom>
          <a:solidFill>
            <a:srgbClr val="1F6B4A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293608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3 · HMM Filter — Skips Drawdown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8293608" y="48920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stress-state trades produced zero net P&amp;L and every bp of drawdown. Skipping them lifts Sharpe to 0.51 and win rate to 73%.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Out-of-Sample Cumulative P&amp;L — The HMM Gate in Action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9372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shading = HMM State 0 (stress)  ·  Blue shading = HMM State 1 (stable)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14255" y="731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GSAM</a:t>
            </a:r>
            <a:endParaRPr lang="en-US" sz="13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Strategies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49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6793992"/>
            <a:ext cx="1143000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914400"/>
            <a:ext cx="1133856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7" name="Image 0" descr="/sessions/adoring-dreamy-cannon/mnt/COMPSCI216-Project/outputs/figures/backtest_cumulative_v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05840"/>
            <a:ext cx="11155680" cy="42976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11480" y="5486400"/>
            <a:ext cx="11338560" cy="82296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1480" y="5486400"/>
            <a:ext cx="11338560" cy="36576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55955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CURVE: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line (HMM-filtered) tracks the gray baseline in stable periods and </a:t>
            </a:r>
            <a:pPr indent="0" marL="0">
              <a:buNone/>
            </a:pPr>
            <a:r>
              <a:rPr lang="en-US" sz="1400" b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flat — not down — during red (stress) shading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avoiding essentially all drawdown while sacrificing 45% of trade count.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Finding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9372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decides whether a regime signal helps or hurts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14255" y="731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GSAM</a:t>
            </a:r>
            <a:endParaRPr lang="en-US" sz="13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Strategies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49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6793992"/>
            <a:ext cx="1143000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749808"/>
            <a:ext cx="12191695" cy="576072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132588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indent="0" marL="0">
              <a:buNone/>
            </a:pPr>
            <a:r>
              <a:rPr lang="en-US" sz="3000" b="1" i="1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</a:t>
            </a:r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hmm_state signal that </a:t>
            </a:r>
            <a:pPr indent="0" marL="0">
              <a:buNone/>
            </a:pPr>
            <a:r>
              <a:rPr lang="en-US" sz="3000" b="1" dirty="0">
                <a:solidFill>
                  <a:srgbClr val="9E2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harmed </a:t>
            </a:r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Random Forest as a </a:t>
            </a:r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feature </a:t>
            </a:r>
            <a:pPr indent="0" marL="0">
              <a:buNone/>
            </a:pPr>
            <a:r>
              <a:rPr lang="en-US" sz="3000" b="1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helped </a:t>
            </a:r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backtest as a </a:t>
            </a:r>
            <a:pPr indent="0" marL="0">
              <a:buNone/>
            </a:pPr>
            <a:r>
              <a:rPr lang="en-US" sz="3000" b="1" i="1" dirty="0">
                <a:solidFill>
                  <a:srgbClr val="C8A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trade gate.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22960" y="3840480"/>
            <a:ext cx="2743200" cy="36576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31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20624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Tree-splits on a continuous state probability destroy the structural prior — the RF can only memorize a 69% majority.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yes/no gate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prior — regime → trade / no trade.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training data is scarce,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imposing known structure beats trying to learn it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HMM encodes the prior; the RF has to discover it from 56 labeled events and can't.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9372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can't yet conclude — and where to take this next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14255" y="731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GSAM</a:t>
            </a:r>
            <a:endParaRPr lang="en-US" sz="13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Strategies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49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75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03920" y="6793992"/>
            <a:ext cx="1143000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77295" y="6537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914400"/>
            <a:ext cx="109728" cy="201168"/>
          </a:xfrm>
          <a:prstGeom prst="rect">
            <a:avLst/>
          </a:prstGeom>
          <a:solidFill>
            <a:srgbClr val="9E2A2F"/>
          </a:solidFill>
          <a:ln w="12700">
            <a:solidFill>
              <a:srgbClr val="9E2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896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56692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91440" cy="932688"/>
          </a:xfrm>
          <a:prstGeom prst="rect">
            <a:avLst/>
          </a:prstGeom>
          <a:solidFill>
            <a:srgbClr val="9E2A2F"/>
          </a:solidFill>
          <a:ln w="12700">
            <a:solidFill>
              <a:srgbClr val="9E2A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135331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OOS window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1645920"/>
            <a:ext cx="5349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months / 29 events is too thin for statistically conclusive strategy comparisons. Sharpe CIs are wide; +0.12 uplift is directional, not proven.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2304288"/>
            <a:ext cx="56692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304288"/>
            <a:ext cx="91440" cy="932688"/>
          </a:xfrm>
          <a:prstGeom prst="rect">
            <a:avLst/>
          </a:prstGeom>
          <a:solidFill>
            <a:srgbClr val="9E2A2F"/>
          </a:solidFill>
          <a:ln w="12700">
            <a:solidFill>
              <a:srgbClr val="9E2A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3774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Tight ML training set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2670048"/>
            <a:ext cx="5349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total supervised events for a 10-feature classifier — the RF has no choice but to memorize the 69% majority base rate.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328416"/>
            <a:ext cx="56692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328416"/>
            <a:ext cx="91440" cy="932688"/>
          </a:xfrm>
          <a:prstGeom prst="rect">
            <a:avLst/>
          </a:prstGeom>
          <a:solidFill>
            <a:srgbClr val="9E2A2F"/>
          </a:solidFill>
          <a:ln w="12700">
            <a:solidFill>
              <a:srgbClr val="9E2A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40156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2Y data artifacts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3694176"/>
            <a:ext cx="5349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LSEG quoting artifacts in 2022 (spread_2y &gt; 1.0 pp) persist in classical analysis. Kept conservatively; excluded from ML features.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4352544"/>
            <a:ext cx="56692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352544"/>
            <a:ext cx="91440" cy="932688"/>
          </a:xfrm>
          <a:prstGeom prst="rect">
            <a:avLst/>
          </a:prstGeom>
          <a:solidFill>
            <a:srgbClr val="9E2A2F"/>
          </a:solidFill>
          <a:ln w="12700">
            <a:solidFill>
              <a:srgbClr val="9E2A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425696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Stylized costs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4718304"/>
            <a:ext cx="5349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bp flat round-trip assumes DV01-matched, no slippage, and ignores bid-ask widening in the exact stress periods the HMM filters out.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5376672"/>
            <a:ext cx="56692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5376672"/>
            <a:ext cx="91440" cy="932688"/>
          </a:xfrm>
          <a:prstGeom prst="rect">
            <a:avLst/>
          </a:prstGeom>
          <a:solidFill>
            <a:srgbClr val="9E2A2F"/>
          </a:solidFill>
          <a:ln w="12700">
            <a:solidFill>
              <a:srgbClr val="9E2A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449824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Amplification risk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5742432"/>
            <a:ext cx="5349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scale, systematic RV strategies can amplify the dislocations they trade — worth monitoring in any live deployment.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914400"/>
            <a:ext cx="109728" cy="20116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896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63640" y="1280160"/>
            <a:ext cx="54864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1280160"/>
            <a:ext cx="91440" cy="93268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135331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Deeper history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92240" y="1645920"/>
            <a:ext cx="5166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Splice SOFR with LIBOR-OIS pre-2018 to push the panel back to 2010 — adds two full rate cycles and a stress event (COVID).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63640" y="2304288"/>
            <a:ext cx="54864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2304288"/>
            <a:ext cx="91440" cy="93268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237744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Cross-currency replication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92240" y="2670048"/>
            <a:ext cx="5166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in EUR (ESTR-OIS vs. Bunds) and GBP (SONIA-OIS vs. Gilts) to test whether the USD result generalizes.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63640" y="3328416"/>
            <a:ext cx="54864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63640" y="3328416"/>
            <a:ext cx="91440" cy="93268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0" y="340156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HMM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492240" y="3694176"/>
            <a:ext cx="5166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batch Baum-Welch with an online filter so the state assignment updates daily without a recompute over the full sample.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263640" y="4352544"/>
            <a:ext cx="54864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63640" y="4352544"/>
            <a:ext cx="91440" cy="93268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92240" y="442569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Richer ML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492240" y="4718304"/>
            <a:ext cx="5166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events across maturities (≈150 obs), add non-linear kernels, or use gradient-boosted trees with monotonic constraints on MOVE.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63640" y="5376672"/>
            <a:ext cx="54864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63640" y="5376672"/>
            <a:ext cx="91440" cy="93268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0" y="544982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wrapper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492240" y="5742432"/>
            <a:ext cx="5166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DV01-matched sizing, bid-ask aware cost modeling, and a capacity / amplification monitor before any live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9372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research questions, one consistent story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814255" y="731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GSAM</a:t>
            </a:r>
            <a:endParaRPr lang="en-US" sz="13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E0C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Strategies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49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75320" y="6537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03920" y="6793992"/>
            <a:ext cx="1143000" cy="32004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77295" y="6537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914400"/>
            <a:ext cx="27432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914400"/>
            <a:ext cx="2743200" cy="384048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 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Confirmed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9436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reversion is present, large (d = 0.87 at 5Y), and survives BH-FDR.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914400"/>
            <a:ext cx="27432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914400"/>
            <a:ext cx="2743200" cy="384048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 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42900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sign holds across 100% of 162 parameter cells.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914400"/>
            <a:ext cx="27432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0" y="914400"/>
            <a:ext cx="2743200" cy="384048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 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Rate-driven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26364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rates triple reversion; volatility regime is a null finding.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915400" y="914400"/>
            <a:ext cx="27432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15400" y="914400"/>
            <a:ext cx="2743200" cy="384048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1540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05256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HMM &gt; RF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09828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regime gate lifts Sharpe 0.39 → 0.51; continuous feature hurts.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2926080"/>
            <a:ext cx="11338560" cy="2103120"/>
          </a:xfrm>
          <a:prstGeom prst="rect">
            <a:avLst/>
          </a:prstGeom>
          <a:solidFill>
            <a:srgbClr val="EEF1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2926080"/>
            <a:ext cx="73152" cy="2103120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3017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STATEMENT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3291840"/>
            <a:ext cx="10972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find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mean reversion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OIS–Treasury spreads across 3 maturities, 1,890 daily observations, and 162 parameter combinations.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regime is the dominant moderator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(partial η² = 0.28 at 5Y); binary volatility is not.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Applied: a 2-state HMM as a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trade gate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OOS Sharpe from 0.39 to 0.51 and win-rate from 55% to 73%, while the identical signal </a:t>
            </a:r>
            <a:pPr indent="0" marL="0"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9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hurts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Forest.  Given scarce labels, </a:t>
            </a:r>
            <a:pPr indent="0" marL="0"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imposing known structure beats trying to learn it.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11480" y="5212080"/>
            <a:ext cx="11338560" cy="109728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5212080"/>
            <a:ext cx="11338560" cy="36576"/>
          </a:xfrm>
          <a:prstGeom prst="rect">
            <a:avLst/>
          </a:prstGeom>
          <a:solidFill>
            <a:srgbClr val="C8A85A"/>
          </a:solidFill>
          <a:ln w="12700">
            <a:solidFill>
              <a:srgbClr val="C8A8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5303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QUESTIONS?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9436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E0C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Leibowitz · Dhruv Trivedi · Jose Maldonado · Felipe Sanchez-Noguera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github.com/crl65/COMPSCI216-Project    ·    Duke CS216 Everything Data · Spring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Duke University — CS216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Mean Reversion in OIS-Treasury Spreads</dc:title>
  <dc:subject>PptxGenJS Presentation</dc:subject>
  <dc:creator>Chase Leibowitz, Dhruv Trivedi, Jose Maldonado, Felipe Sanchez-Noguera</dc:creator>
  <cp:lastModifiedBy>Chase Leibowitz, Dhruv Trivedi, Jose Maldonado, Felipe Sanchez-Noguera</cp:lastModifiedBy>
  <cp:revision>1</cp:revision>
  <dcterms:created xsi:type="dcterms:W3CDTF">2026-04-20T04:07:15Z</dcterms:created>
  <dcterms:modified xsi:type="dcterms:W3CDTF">2026-04-20T04:07:15Z</dcterms:modified>
</cp:coreProperties>
</file>